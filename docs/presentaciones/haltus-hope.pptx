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El sistema se presenta con la marca del hospital a propósito: no es un producto genérico que se les vende, es su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Tono de diagnóstico, no de reclamo: quien compró estos sistemas probablemente está en la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Ninguno de estos seis costos se resuelve con más personal. Se resuelven haciendo que los sistemas se hablen.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Ésta es la lámina que define el proyecto. A partir de aquí, todo es producto en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tablero de inicio: ocupación, cirugías del día, cobranza y efectivo proyectado. A la derecha, lo que requiere una decisión hoy — un lote por caducar, una requisición detenida, una queja sin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Columnas por recurso y bloques por procedimiento. El sistema no permite dos reservas encimadas en el mismo quirófano — la promesa de la lámina se ve en la propia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Notas, diagnóstico CIE-10 y signos vitales capturados a pie de cama. Abajo, los medicamentos aplicados con su lote: eso es lo que amarra el expediente con farmacia y con la cuenta.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cargo viene del expediente. A la derecha, el reparto entre aseguradora y paciente, la mezcla de IVA de tres sabores, y la trazabilidad completa de la cama al libro contable.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fila por lote, no por producto. El propofol aparece en rojo porque caduca en 31 días y además está bajo mínimo. Las sustancias controladas llevan su marca para el control que exige COFEPRIS.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Aseguradora, empleado, familiar y particular tienen su propio precio para el mismo servicio. Se cambia en un lugar y aplica en todo el hospital; toda excepción queda con nombre de quien la autorizó.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cotización se arma con el tarifario del grupo que corresponde. Al ingresar el paciente se convierte en su cuenta, y de la cuenta sale la factura. Una sola captura para los tres documentos.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Requisición, autorización por monto y responsable, orden, recepción, factura y pago. La cadena de firmas queda registrada y la orden no avanza sin ellas.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proyección incluye lo ya comprometido en órdenes de compra. Al lado, la conciliación bancaria automática: lo que el sistema no puede amarrar con certeza lo deja señalado, nunca lo adivina.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Bandeja con responsable y tiempo de respuesta medido. A la derecha, lo que se repite: catorce pacientes se quejaron de lo mismo en admisión — eso ya no es una anécdota, es un proceso que arreglar.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Portal del paciente. El argumento comercial: un hospital que se lo pone fácil al paciente para pagar y para deducir, se recomienda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Mantenimiento. Elevarlo de 'nice to have' a continuidad operativa: si falla el aire de quirófano o el cuarto frío de farmacia, se detiene la operación o se pierde inventario.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lámina que amarra el deck. Recorrerla despacio: cada paso alimenta al siguiente, y el último ocurre sin que nadie haga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explícito con lo nuevo genera confianza y justifica el precio.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remate es 'implementación incluida, sin inversión inicial'. Los rangos de la izquierda son estimaciones de mercado — invitarlos a poner sus números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pidiendo el recorrido de media jornada: compromiso chico, fácil de aceptar, y es el que destraba todo lo demás.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42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1645920"/>
            <a:ext cx="5669280" cy="5669280"/>
          </a:xfrm>
          <a:prstGeom prst="ellipse">
            <a:avLst/>
          </a:prstGeom>
          <a:solidFill>
            <a:srgbClr val="6B5F96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3566160"/>
            <a:ext cx="3291840" cy="3291840"/>
          </a:xfrm>
          <a:prstGeom prst="ellipse">
            <a:avLst/>
          </a:prstGeom>
          <a:solidFill>
            <a:srgbClr val="F0553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60" kern="0" dirty="0">
                <a:solidFill>
                  <a:srgbClr val="F3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SISTEMA INTEGRAL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Haltus Hope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3346704"/>
            <a:ext cx="8686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sistema para operar el hospital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26110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  ·  Quirófanos  ·  Farmacia  ·  Cuentas  ·  Compras  ·  Contabilidad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está hoy la operación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problema de esfuerzo del equipo. Es que las herramientas no fueron pensadas para trabajar juntas.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EF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B4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16736" y="21762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sistemas que no se hablan entre sí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16736" y="24688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área trabaja en su propia herramienta. La información existe, pero vive partida en pedazos que nadie ve completos.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40080" y="3401568"/>
            <a:ext cx="457200" cy="457200"/>
          </a:xfrm>
          <a:prstGeom prst="ellipse">
            <a:avLst/>
          </a:prstGeom>
          <a:solidFill>
            <a:srgbClr val="EF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B4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16736" y="33832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central rígido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16736" y="367588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termina peleándose con la herramienta en vez de apoyarse en ella: se adapta el hospital al software, no al revés.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640080" y="4608576"/>
            <a:ext cx="457200" cy="457200"/>
          </a:xfrm>
          <a:prstGeom prst="ellipse">
            <a:avLst/>
          </a:prstGeom>
          <a:solidFill>
            <a:srgbClr val="EF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B4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16736" y="45902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manual que ya podría estar automatizado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16736" y="488289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calificado capturando lo mismo dos y tres veces para que los números de un sistema cuadren con los del otro.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7498080" y="2194560"/>
            <a:ext cx="4053535" cy="3438144"/>
          </a:xfrm>
          <a:prstGeom prst="roundRect">
            <a:avLst>
              <a:gd name="adj" fmla="val 2660"/>
            </a:avLst>
          </a:prstGeom>
          <a:solidFill>
            <a:srgbClr val="F7F6FA"/>
          </a:solidFill>
          <a:ln w="9525">
            <a:solidFill>
              <a:srgbClr val="E2E1E9"/>
            </a:solidFill>
            <a:prstDash val="solid"/>
          </a:ln>
          <a:effectLst>
            <a:outerShdw sx="100000" sy="100000" kx="0" ky="0" algn="bl" rotWithShape="0" blurRad="101600" dist="38100" dir="5400000">
              <a:srgbClr val="241E3B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08976" y="2432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usa hoy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808976" y="2871216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1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08976" y="28712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729216" y="2871216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1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9216" y="28712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08976" y="343814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1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08976" y="34381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Microsip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729216" y="343814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1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29216" y="34381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808976" y="4005072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1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08976" y="40050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808976" y="4663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4B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herramientas, cinco versiones de la verdad y ningún puente automático entre ellas.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Haltus Hope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63721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eso cuesta, todos los meses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74720" cy="1847088"/>
          </a:xfrm>
          <a:prstGeom prst="roundRect">
            <a:avLst>
              <a:gd name="adj" fmla="val 4950"/>
            </a:avLst>
          </a:prstGeom>
          <a:solidFill>
            <a:srgbClr val="F7F6FA"/>
          </a:solidFill>
          <a:ln w="9525">
            <a:solidFill>
              <a:srgbClr val="E2E1E9"/>
            </a:solidFill>
            <a:prstDash val="solid"/>
          </a:ln>
          <a:effectLst>
            <a:outerShdw sx="100000" sy="100000" kx="0" ky="0" algn="bl" rotWithShape="0" blurRad="101600" dist="38100" dir="5400000">
              <a:srgbClr val="241E3B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105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 que caduca en el anaquel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43230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lote y caducidad, la merma se descubre cuando ya no hay nada que hacer.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1847088"/>
          </a:xfrm>
          <a:prstGeom prst="roundRect">
            <a:avLst>
              <a:gd name="adj" fmla="val 4950"/>
            </a:avLst>
          </a:prstGeom>
          <a:solidFill>
            <a:srgbClr val="F7F6FA"/>
          </a:solidFill>
          <a:ln w="9525">
            <a:solidFill>
              <a:srgbClr val="E2E1E9"/>
            </a:solidFill>
            <a:prstDash val="solid"/>
          </a:ln>
          <a:effectLst>
            <a:outerShdw sx="100000" sy="100000" kx="0" ky="0" algn="bl" rotWithShape="0" blurRad="101600" dist="38100" dir="5400000">
              <a:srgbClr val="241E3B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18105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prestados que nunca se cobraron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17720" y="243230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hizo en piso y no llegó a la cuenta simplemente se regala.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474720" cy="1847088"/>
          </a:xfrm>
          <a:prstGeom prst="roundRect">
            <a:avLst>
              <a:gd name="adj" fmla="val 4950"/>
            </a:avLst>
          </a:prstGeom>
          <a:solidFill>
            <a:srgbClr val="F7F6FA"/>
          </a:solidFill>
          <a:ln w="9525">
            <a:solidFill>
              <a:srgbClr val="E2E1E9"/>
            </a:solidFill>
            <a:prstDash val="solid"/>
          </a:ln>
          <a:effectLst>
            <a:outerShdw sx="100000" sy="100000" kx="0" ky="0" algn="bl" rotWithShape="0" blurRad="101600" dist="38100" dir="5400000">
              <a:srgbClr val="241E3B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18105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cuenta no cuadra con el expediente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1040" y="243230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registros del mismo evento que hay que reconciliar a mano, paciente por paciente.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02736"/>
            <a:ext cx="3474720" cy="1847088"/>
          </a:xfrm>
          <a:prstGeom prst="roundRect">
            <a:avLst>
              <a:gd name="adj" fmla="val 4950"/>
            </a:avLst>
          </a:prstGeom>
          <a:solidFill>
            <a:srgbClr val="F7F6FA"/>
          </a:solidFill>
          <a:ln w="9525">
            <a:solidFill>
              <a:srgbClr val="E2E1E9"/>
            </a:solidFill>
            <a:prstDash val="solid"/>
          </a:ln>
          <a:effectLst>
            <a:outerShdw sx="100000" sy="100000" kx="0" ky="0" algn="bl" rotWithShape="0" blurRad="101600" dist="38100" dir="5400000">
              <a:srgbClr val="241E3B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8587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sin visibilidad del efectivo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autoriza sin saber a qué ya se comprometió el dinero de las próximas semanas.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602736"/>
            <a:ext cx="3474720" cy="1847088"/>
          </a:xfrm>
          <a:prstGeom prst="roundRect">
            <a:avLst>
              <a:gd name="adj" fmla="val 4950"/>
            </a:avLst>
          </a:prstGeom>
          <a:solidFill>
            <a:srgbClr val="F7F6FA"/>
          </a:solidFill>
          <a:ln w="9525">
            <a:solidFill>
              <a:srgbClr val="E2E1E9"/>
            </a:solidFill>
            <a:prstDash val="solid"/>
          </a:ln>
          <a:effectLst>
            <a:outerShdw sx="100000" sy="100000" kx="0" ky="0" algn="bl" rotWithShape="0" blurRad="101600" dist="38100" dir="5400000">
              <a:srgbClr val="241E3B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38587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personal capturando dos veces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17720" y="448056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gente calificada gastado en mover datos entre pantallas.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602736"/>
            <a:ext cx="3474720" cy="1847088"/>
          </a:xfrm>
          <a:prstGeom prst="roundRect">
            <a:avLst>
              <a:gd name="adj" fmla="val 4950"/>
            </a:avLst>
          </a:prstGeom>
          <a:solidFill>
            <a:srgbClr val="F7F6FA"/>
          </a:solidFill>
          <a:ln w="9525">
            <a:solidFill>
              <a:srgbClr val="E2E1E9"/>
            </a:solidFill>
            <a:prstDash val="solid"/>
          </a:ln>
          <a:effectLst>
            <a:outerShdw sx="100000" sy="100000" kx="0" ky="0" algn="bl" rotWithShape="0" blurRad="101600" dist="38100" dir="5400000">
              <a:srgbClr val="241E3B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1040" y="38587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con datos de la semana pasada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21040" y="448056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número llega ya cambió, y la decisión se toma por intuición.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Haltus Hope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63721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42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836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3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cadena, sin huecos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eslabón se concilia contra el siguiente. Nada se captura dos veces y nada se pierde en el camino.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975104" cy="1572768"/>
          </a:xfrm>
          <a:prstGeom prst="roundRect">
            <a:avLst>
              <a:gd name="adj" fmla="val 6977"/>
            </a:avLst>
          </a:prstGeom>
          <a:solidFill>
            <a:srgbClr val="38315A"/>
          </a:solidFill>
          <a:ln w="12700">
            <a:solidFill>
              <a:srgbClr val="6B5F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8176" y="3017520"/>
            <a:ext cx="438912" cy="438912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8176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8587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ocurrió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70048" y="3438144"/>
            <a:ext cx="173736" cy="182880"/>
          </a:xfrm>
          <a:prstGeom prst="rightArrow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98648" y="2743200"/>
            <a:ext cx="1975104" cy="1572768"/>
          </a:xfrm>
          <a:prstGeom prst="roundRect">
            <a:avLst>
              <a:gd name="adj" fmla="val 6977"/>
            </a:avLst>
          </a:prstGeom>
          <a:solidFill>
            <a:srgbClr val="38315A"/>
          </a:solidFill>
          <a:ln w="12700">
            <a:solidFill>
              <a:srgbClr val="6B5F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66744" y="3017520"/>
            <a:ext cx="438912" cy="438912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98648" y="356616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90088" y="38587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consumió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28616" y="3438144"/>
            <a:ext cx="173736" cy="182880"/>
          </a:xfrm>
          <a:prstGeom prst="rightArrow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57216" y="2743200"/>
            <a:ext cx="1975104" cy="1572768"/>
          </a:xfrm>
          <a:prstGeom prst="roundRect">
            <a:avLst>
              <a:gd name="adj" fmla="val 6977"/>
            </a:avLst>
          </a:prstGeom>
          <a:solidFill>
            <a:srgbClr val="38315A"/>
          </a:solidFill>
          <a:ln w="12700">
            <a:solidFill>
              <a:srgbClr val="6B5F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25312" y="3017520"/>
            <a:ext cx="438912" cy="438912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57216" y="356616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48656" y="38587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cobró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87184" y="3438144"/>
            <a:ext cx="173736" cy="182880"/>
          </a:xfrm>
          <a:prstGeom prst="rightArrow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15784" y="2743200"/>
            <a:ext cx="1975104" cy="1572768"/>
          </a:xfrm>
          <a:prstGeom prst="roundRect">
            <a:avLst>
              <a:gd name="adj" fmla="val 6977"/>
            </a:avLst>
          </a:prstGeom>
          <a:solidFill>
            <a:srgbClr val="38315A"/>
          </a:solidFill>
          <a:ln w="12700">
            <a:solidFill>
              <a:srgbClr val="6B5F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017520"/>
            <a:ext cx="438912" cy="438912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15784" y="356616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07224" y="38587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entró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45752" y="3438144"/>
            <a:ext cx="173736" cy="182880"/>
          </a:xfrm>
          <a:prstGeom prst="rightArrow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74352" y="2743200"/>
            <a:ext cx="1975104" cy="1572768"/>
          </a:xfrm>
          <a:prstGeom prst="roundRect">
            <a:avLst>
              <a:gd name="adj" fmla="val 6977"/>
            </a:avLst>
          </a:prstGeom>
          <a:solidFill>
            <a:srgbClr val="38315A"/>
          </a:solidFill>
          <a:ln w="12700">
            <a:solidFill>
              <a:srgbClr val="6B5F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42448" y="3017520"/>
            <a:ext cx="438912" cy="438912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42448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74352" y="356616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765792" y="38587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declara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488289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3B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se registró en el expediente, está en la cuenta. Si está en la cuenta, ocurrió en el expediente.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40080" y="539496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siguientes láminas se ve funcionando, pantalla por pantalla.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Haltus Hope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63721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D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DIRECCIÓN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el hospital en una pantalla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Enterarse de lo que pasa sin pedirle un reporte a nadie.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ui/png/ini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QUIRÓFANOS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Disponibilidad real, sin empalmes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llamadas para confirmar quién tiene reservado qué.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ui/png/agen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historia del paciente, a la mano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expediente en papel que nadie encuentra cuando se necesita.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ui/png/expedi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DEL PACIENTE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ocurrió es lo que se cobra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prestados que nunca llegaron a la cuenta.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ui/png/cuen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FARMACIA Y ALMACÉN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Lotes y caducidades, con alerta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medicamento que se descubre caducado cuando ya se perdió.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ui/png/farma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Y TARIFARIOS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catálogo, un precio por cada pagador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listas de precios en Excel y el criterio de quien está en caja.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ui/png/tarif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cotización a la factura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Cotizar en Word y volver a teclear todo al facturar.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ui/png/cotiz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Y PROVEEDORES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Nadie compra sin autorización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que aparecen cuando ya llegó la factura.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ui/png/compr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EFECTIVO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Saber con qué se cuenta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sin saber a qué ya se comprometió el dinero.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ui/png/flu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QUEJAS Y RECLAMOS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queja con dueño y con reloj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253935" y="457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  </a:t>
            </a:r>
            <a:pPr algn="r" indent="0" marL="0">
              <a:buNone/>
            </a:pPr>
            <a:r>
              <a:rPr lang="en-US" sz="1250" dirty="0">
                <a:solidFill>
                  <a:srgbClr val="515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queja que se escucha, se comenta y se olvida.</a:t>
            </a:r>
            <a:endParaRPr lang="en-US" sz="950" dirty="0"/>
          </a:p>
        </p:txBody>
      </p:sp>
      <p:pic>
        <p:nvPicPr>
          <p:cNvPr id="5" name="Image 0" descr="/tmp/claude-0/-home-user-contabilidad-os/2aa77089-8721-5218-8b61-82d65ceb99c2/scratchpad/deck/ui/png/quej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1152144"/>
            <a:ext cx="9923228" cy="5705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427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tmp/claude-0/-home-user-contabilidad-os/2aa77089-8721-5218-8b61-82d65ceb99c2/scratchpad/deck/ui/png/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112"/>
            <a:ext cx="12191695" cy="70102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427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tmp/claude-0/-home-user-contabilidad-os/2aa77089-8721-5218-8b61-82d65ceb99c2/scratchpad/deck/ui/png/mantenimi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112"/>
            <a:ext cx="12191695" cy="70102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42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3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COMPLETO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11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día en Haltus Hope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91056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paciente, de la puerta a la póliza contable. Nadie captura la misma información dos veces.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38315A"/>
          </a:solidFill>
          <a:ln w="12700">
            <a:solidFill>
              <a:srgbClr val="6B5F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432304"/>
            <a:ext cx="420624" cy="420624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29809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77824" y="32918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su expediente o se recupera el que ya tenía.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2999232"/>
            <a:ext cx="173736" cy="182880"/>
          </a:xfrm>
          <a:prstGeom prst="rightArrow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8728" y="2194560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38315A"/>
          </a:solidFill>
          <a:ln w="12700">
            <a:solidFill>
              <a:srgbClr val="6B5F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76472" y="2432304"/>
            <a:ext cx="420624" cy="420624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76472" y="29809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agenda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76472" y="32918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Quirófano y equipo reservados, sin empalmes.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6208" y="2999232"/>
            <a:ext cx="173736" cy="182880"/>
          </a:xfrm>
          <a:prstGeom prst="rightArrow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7376" y="2194560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38315A"/>
          </a:solidFill>
          <a:ln w="12700">
            <a:solidFill>
              <a:srgbClr val="6B5F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2432304"/>
            <a:ext cx="420624" cy="420624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29809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atiende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675120" y="32918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Notas, diagnóstico y signos, a pie de cama.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34856" y="2999232"/>
            <a:ext cx="173736" cy="182880"/>
          </a:xfrm>
          <a:prstGeom prst="rightArrow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36024" y="2194560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38315A"/>
          </a:solidFill>
          <a:ln w="12700">
            <a:solidFill>
              <a:srgbClr val="6B5F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3768" y="2432304"/>
            <a:ext cx="420624" cy="420624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3768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73768" y="29809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consume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573768" y="32918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 y material salen con su lote.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242816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38315A"/>
          </a:solidFill>
          <a:ln w="12700">
            <a:solidFill>
              <a:srgbClr val="6B5F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4480560"/>
            <a:ext cx="420624" cy="420624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7824" y="5029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arma la cuenta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77824" y="534009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expediente ya está cargado.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337560" y="5047488"/>
            <a:ext cx="173736" cy="182880"/>
          </a:xfrm>
          <a:prstGeom prst="rightArrow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38728" y="4242816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38315A"/>
          </a:solidFill>
          <a:ln w="12700">
            <a:solidFill>
              <a:srgbClr val="6B5F9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76472" y="4480560"/>
            <a:ext cx="420624" cy="420624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76472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776472" y="5029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cobra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3776472" y="534009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 entre aseguradora y paciente.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36208" y="5047488"/>
            <a:ext cx="173736" cy="182880"/>
          </a:xfrm>
          <a:prstGeom prst="rightArrow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37376" y="4242816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38315A"/>
          </a:solidFill>
          <a:ln w="12700">
            <a:solidFill>
              <a:srgbClr val="6B5F9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75120" y="4480560"/>
            <a:ext cx="420624" cy="420624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675120" y="5029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factura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6675120" y="534009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Timbrada, con el IVA correcto en cada renglón.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134856" y="5047488"/>
            <a:ext cx="173736" cy="182880"/>
          </a:xfrm>
          <a:prstGeom prst="rightArrow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36024" y="4242816"/>
            <a:ext cx="2670048" cy="1792224"/>
          </a:xfrm>
          <a:prstGeom prst="roundRect">
            <a:avLst>
              <a:gd name="adj" fmla="val 5102"/>
            </a:avLst>
          </a:prstGeom>
          <a:solidFill>
            <a:srgbClr val="38315A"/>
          </a:solidFill>
          <a:ln w="12700">
            <a:solidFill>
              <a:srgbClr val="6B5F9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73768" y="4480560"/>
            <a:ext cx="420624" cy="420624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73768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573768" y="5029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contabiliza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9573768" y="534009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al banco, se concilia y llega al libro.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Haltus Hope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63721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D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ya existe y qué se construye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mano en el corazón: esto es lo que hace que dos meses sea un plazo real y no una promesa.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39696"/>
            <a:ext cx="5385816" cy="3456432"/>
          </a:xfrm>
          <a:prstGeom prst="roundRect">
            <a:avLst>
              <a:gd name="adj" fmla="val 3175"/>
            </a:avLst>
          </a:prstGeom>
          <a:solidFill>
            <a:srgbClr val="F7F6FA"/>
          </a:solidFill>
          <a:ln w="9525">
            <a:solidFill>
              <a:srgbClr val="E2E1E9"/>
            </a:solidFill>
            <a:prstDash val="solid"/>
          </a:ln>
          <a:effectLst>
            <a:outerShdw sx="100000" sy="100000" kx="0" ky="0" algn="bl" rotWithShape="0" blurRad="101600" dist="38100" dir="5400000">
              <a:srgbClr val="241E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395728"/>
            <a:ext cx="402336" cy="402336"/>
          </a:xfrm>
          <a:prstGeom prst="ellipse">
            <a:avLst/>
          </a:prstGeom>
          <a:solidFill>
            <a:srgbClr val="199D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9616" y="24140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existe y está probado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50976" y="2999232"/>
            <a:ext cx="47640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Contabilidad, cierre mensual y estados financieros</a:t>
            </a:r>
            <a:endParaRPr lang="en-US" sz="126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timbrada y complementos de pago</a:t>
            </a:r>
            <a:endParaRPr lang="en-US" sz="126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bancaria automática</a:t>
            </a:r>
            <a:endParaRPr lang="en-US" sz="126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con autorizaciones y pagos a proveedores</a:t>
            </a:r>
            <a:endParaRPr lang="en-US" sz="126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con kardex y costo promedio</a:t>
            </a:r>
            <a:endParaRPr lang="en-US" sz="126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recursos por franja horaria</a:t>
            </a:r>
            <a:endParaRPr lang="en-US" sz="126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servicios con precios</a:t>
            </a:r>
            <a:endParaRPr lang="en-US" sz="126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para clientes y nómina completa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245352" y="2139696"/>
            <a:ext cx="5385816" cy="3456432"/>
          </a:xfrm>
          <a:prstGeom prst="roundRect">
            <a:avLst>
              <a:gd name="adj" fmla="val 3175"/>
            </a:avLst>
          </a:prstGeom>
          <a:solidFill>
            <a:srgbClr val="4B4272"/>
          </a:solidFill>
          <a:ln w="9525">
            <a:solidFill>
              <a:srgbClr val="4B4272"/>
            </a:solidFill>
            <a:prstDash val="solid"/>
          </a:ln>
          <a:effectLst>
            <a:outerShdw sx="100000" sy="100000" kx="0" ky="0" algn="bl" rotWithShape="0" blurRad="101600" dist="38100" dir="5400000">
              <a:srgbClr val="241E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2395728"/>
            <a:ext cx="402336" cy="402336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04888" y="24140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 para Haltus Hope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56248" y="2999232"/>
            <a:ext cx="47640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D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 completo (el bloque mayor)</a:t>
            </a:r>
            <a:endParaRPr lang="en-US" sz="126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D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 y caducidades en farmacia</a:t>
            </a:r>
            <a:endParaRPr lang="en-US" sz="126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D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Tarifarios por grupo de pagador</a:t>
            </a:r>
            <a:endParaRPr lang="en-US" sz="126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D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como entidad distinta de quien paga</a:t>
            </a:r>
            <a:endParaRPr lang="en-US" sz="126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D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conciliada con el expediente</a:t>
            </a:r>
            <a:endParaRPr lang="en-US" sz="126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D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flujo de efectivo</a:t>
            </a:r>
            <a:endParaRPr lang="en-US" sz="126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D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del inmueble</a:t>
            </a:r>
            <a:endParaRPr lang="en-US" sz="126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D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Quejas y reclamos de pacientes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Haltus Hope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63721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comparación honesta no es contra cero: es contra lo que hoy ya se paga por tener el trabajo partido.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21408"/>
            <a:ext cx="5486400" cy="3255264"/>
          </a:xfrm>
          <a:prstGeom prst="roundRect">
            <a:avLst>
              <a:gd name="adj" fmla="val 2809"/>
            </a:avLst>
          </a:prstGeom>
          <a:solidFill>
            <a:srgbClr val="F7F6FA"/>
          </a:solidFill>
          <a:ln w="9525">
            <a:solidFill>
              <a:srgbClr val="E2E1E9"/>
            </a:solidFill>
            <a:prstDash val="solid"/>
          </a:ln>
          <a:effectLst>
            <a:outerShdw sx="100000" sy="100000" kx="0" ky="0" algn="bl" rotWithShape="0" blurRad="101600" dist="38100" dir="5400000">
              <a:srgbClr val="241E3B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0976" y="234086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hoy cuesta la operación actual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50976" y="28163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 administrativas y contables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06240" y="281635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$3,500 – $8,000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50976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hospitalario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06240" y="33832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 – $15,000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50976" y="3950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conciliando entre sistemas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06240" y="395020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 – $35,000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50976" y="4517136"/>
            <a:ext cx="4864608" cy="0"/>
          </a:xfrm>
          <a:prstGeom prst="line">
            <a:avLst/>
          </a:prstGeom>
          <a:noFill/>
          <a:ln w="12700">
            <a:solidFill>
              <a:srgbClr val="E2E1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4645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al mes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66160" y="464515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$23,500 – $58,000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66560" y="2121408"/>
            <a:ext cx="4785055" cy="3255264"/>
          </a:xfrm>
          <a:prstGeom prst="roundRect">
            <a:avLst>
              <a:gd name="adj" fmla="val 3371"/>
            </a:avLst>
          </a:prstGeom>
          <a:solidFill>
            <a:srgbClr val="4B427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241E3B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2340864"/>
            <a:ext cx="4053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2651760"/>
            <a:ext cx="4053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$30,000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7132320" y="3456432"/>
            <a:ext cx="4053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B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al mes  ·  un solo sistema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0" y="3931920"/>
            <a:ext cx="4053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incluida — sin inversión inicial</a:t>
            </a:r>
            <a:endParaRPr lang="en-US" sz="128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ilimitados, escritorio y móvil</a:t>
            </a:r>
            <a:endParaRPr lang="en-US" sz="128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módulos, sin cobro por separado</a:t>
            </a:r>
            <a:endParaRPr lang="en-US" sz="128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 24 meses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640080" y="5541264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4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desembolso inicial y por debajo de lo que hoy se paga por tener el trabajo dividido.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Haltus Hope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63721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42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1371600"/>
            <a:ext cx="4572000" cy="4572000"/>
          </a:xfrm>
          <a:prstGeom prst="ellipse">
            <a:avLst/>
          </a:prstGeom>
          <a:solidFill>
            <a:srgbClr val="6B5F96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3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Y SIGUIENTES PASOS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meses, de la firma al arranque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792224"/>
            <a:ext cx="5385816" cy="1481328"/>
          </a:xfrm>
          <a:prstGeom prst="roundRect">
            <a:avLst>
              <a:gd name="adj" fmla="val 7407"/>
            </a:avLst>
          </a:prstGeom>
          <a:solidFill>
            <a:srgbClr val="38315A"/>
          </a:solidFill>
          <a:ln w="12700">
            <a:solidFill>
              <a:srgbClr val="6B5F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993392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 · Desarrollo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0976" y="2340864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e información fiscal · catálogo y tarifarios · cuenta y facturación · inventario con lotes · expediente clínico y quirófanos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792224"/>
            <a:ext cx="5385816" cy="1481328"/>
          </a:xfrm>
          <a:prstGeom prst="roundRect">
            <a:avLst>
              <a:gd name="adj" fmla="val 7407"/>
            </a:avLst>
          </a:prstGeom>
          <a:solidFill>
            <a:srgbClr val="38315A"/>
          </a:solidFill>
          <a:ln w="12700">
            <a:solidFill>
              <a:srgbClr val="6B5F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993392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 · Implementación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56248" y="2340864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desde los sistemas actuales · carga de inventario físico · capacitación por área · operación en paralelo y corte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2958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cumplimiento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rol y por área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22452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quien ve sólo lo que su trabajo requiere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38144" y="39319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cifradas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38144" y="422452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llaves fiscales nunca se guardan en claro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36208" y="39319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auditoría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36208" y="422452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hizo qué y cuándo, sin poder borrarlo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034272" y="39319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Resguardo del expediente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34272" y="422452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Conservación conforme a la normativa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4937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Siguientes pasos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40080" y="5431536"/>
            <a:ext cx="402336" cy="402336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431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54498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 la operación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88720" y="57424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jornada con caja, farmacia, compras y enfermería.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25696" y="5431536"/>
            <a:ext cx="402336" cy="402336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25696" y="5431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74336" y="54498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fecha de arranque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974336" y="57424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confirma el mes 1 y se fija la fecha de corte.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11312" y="5431536"/>
            <a:ext cx="402336" cy="402336"/>
          </a:xfrm>
          <a:prstGeom prst="ellipse">
            <a:avLst/>
          </a:prstGeom>
          <a:solidFill>
            <a:srgbClr val="F05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11312" y="5431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59952" y="54498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y arranque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759952" y="57424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desarrollo empieza la semana siguiente.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Haltus Hope — Sistema integral</dc:title>
  <dc:subject>PptxGenJS Presentation</dc:subject>
  <dc:creator>Contabilidad OS</dc:creator>
  <cp:lastModifiedBy>Contabilidad OS</cp:lastModifiedBy>
  <cp:revision>1</cp:revision>
  <dcterms:created xsi:type="dcterms:W3CDTF">2026-08-18T03:16:05Z</dcterms:created>
  <dcterms:modified xsi:type="dcterms:W3CDTF">2026-08-18T03:16:05Z</dcterms:modified>
</cp:coreProperties>
</file>