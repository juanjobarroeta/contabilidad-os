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Presentación a dirección de Haltus Hope: propuesta de un sistema integral que sustituye la mezcla actual de sistemas.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Tono de diagnóstico, no de reclamo: quien compró estos sistemas probablemente está en la sala. El punto no es que estén mal elegidos, es que ninguno fue diseñado para hablar con los otros.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seis costos son la razón de ser del proyecto. Ninguno requiere más personal para resolverse: requieren que los sistemas se hablen.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lámina que define el proyecto. La cadena es el argumento central: cada eslabón valida al siguiente, así que los números no pueden divergir en silencio.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plazo de dos meses no es optimismo: el 60% del sistema ya está construido y probado con clientes reales. Lo nuevo es la capa clínica y de farmacia.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clave para dirección: no hay que instalar nada ni comprar servidores, y el personal de piso usa el celular que ya trae.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explicar el mecanismo. El mensaje es el resultado: la información fiscal está completa, al día y se audita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diferenciador técnico frente a cualquier sistema contable: la mayoría reparte los residuos para que el reporte cuadre. Aquí se reportan.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Mencionar las NOM da autoridad. El punto para dirección: el expediente electrónico no es sólo comodidad, es el marco regulatorio en el que ya deberían estar.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fuerte: hoy este precio diferenciado se resuelve con listas en Excel y criterio de quien está en caja. Aquí lo resuelve el sistema, y queda registrado quién autorizó cada excepción.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está el dinero que hoy se pierde: lo que se hizo y no se cobró. La conciliación automática entre expediente y cuenta es la que lo recupera.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mezcla de IVA es donde los hospitales cometen los errores más caros. Vale la pena detenerse: gravado, tasa cero y exento conviven en la misma cuenta.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Lotes y caducidades es desarrollo nuevo — decirlo. Es también el módulo que más rápido paga: la merma de farmacia es dinero que hoy se tira.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paso de autorización va resaltado a propósito: es el control interno que hoy no existe de forma sistemática y el que más le importa a dirección.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conciliación bancaria ya está construida y probada. Lo nuevo para el hospital es la proyección de flujo con las órdenes de compra comprometidas.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motor de reservas por franja horaria ya existe y está probado en otro giro. Adaptarlo a quirófanos es configuración, no desarrollo desde cero.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de la deducibilidad es comercial: un hospital que se lo pone fácil al paciente para deducir se recomienda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Elevar el módulo de mantenimiento del terreno de 'nice to have' al de continuidad operativa y cumplimiento.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del valor de servicio, esto genera el expediente de atención a quejas que un hospital necesita tener documentado.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Ésta es la lámina que amarra todo. Recorrerla despacio: cada paso alimenta al siguiente automáticamente, y el último —la contabilidad— ocurre sin que nadie haga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operación en paralelo de la semana 8 es la red de seguridad: no se apaga nada hasta que los números del sistema nuevo cuadran con los del viejo.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explícito con lo nuevo genera confianza y justifica el precio. Lo de la izquierda ya funciona con clientes reales; lo de la derecha es el trabajo del mes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remate es 'implementación incluida, sin inversión inicial'. Si preguntan por el desglose de los rangos de la izquierda, son estimaciones de mercado — invitarlos a poner sus números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pidiendo el recorrido de media jornada: es un compromiso chico, fácil de aceptar, y es el que destraba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1371600"/>
            <a:ext cx="5120640" cy="5120640"/>
          </a:xfrm>
          <a:prstGeom prst="ellipse">
            <a:avLst/>
          </a:prstGeom>
          <a:solidFill>
            <a:srgbClr val="028090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3291840"/>
            <a:ext cx="3108960" cy="3108960"/>
          </a:xfrm>
          <a:prstGeom prst="ellipse">
            <a:avLst/>
          </a:prstGeom>
          <a:solidFill>
            <a:srgbClr val="02C39A">
              <a:alpha val="1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91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4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SISTEMA INTEGRAL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9436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Haltus Hope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331012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E2EFF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sistema para operar el hospital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594360" y="431596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clínico  ·  Operación  ·  Facturación  ·  Contabilidad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5943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B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Construido sobre Contabilidad OS  ·  Agosto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está hoy la operación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problema de esfuerzo del equipo. Es un problema de herramientas que no fueron pensadas para trabajar juntas.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13432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79" y="246705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286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sistemas que no se hablan entre sí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371600" y="258775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área trabaja en su propia herramienta. La información existe, pero vive partida en pedazos que nadie ve completos.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594360" y="3474720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" y="3628339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447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central rígido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371600" y="374904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termina peleándose con la herramienta en vez de apoyarse en ella: se adapta el hospital al software, no al revés.</a:t>
            </a:r>
            <a:endParaRPr lang="en-US" sz="1280" dirty="0"/>
          </a:p>
        </p:txBody>
      </p:sp>
      <p:sp>
        <p:nvSpPr>
          <p:cNvPr id="13" name="Shape 9"/>
          <p:cNvSpPr/>
          <p:nvPr/>
        </p:nvSpPr>
        <p:spPr>
          <a:xfrm>
            <a:off x="594360" y="4636008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" y="4789627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60857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manual que ya podría estar automatizado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371600" y="49103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calificado capturando lo mismo dos y tres veces para que los números de un sistema cuadren con los del otro.</a:t>
            </a:r>
            <a:endParaRPr lang="en-US" sz="1280" dirty="0"/>
          </a:p>
        </p:txBody>
      </p:sp>
      <p:sp>
        <p:nvSpPr>
          <p:cNvPr id="17" name="Shape 12"/>
          <p:cNvSpPr/>
          <p:nvPr/>
        </p:nvSpPr>
        <p:spPr>
          <a:xfrm>
            <a:off x="7406640" y="2313432"/>
            <a:ext cx="4190695" cy="3401568"/>
          </a:xfrm>
          <a:prstGeom prst="roundRect">
            <a:avLst>
              <a:gd name="adj" fmla="val 322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7699248" y="2542032"/>
            <a:ext cx="3605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usa hoy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7699248" y="2980944"/>
            <a:ext cx="1847088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699248" y="298094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Virtus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9747504" y="2980944"/>
            <a:ext cx="1847088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747504" y="2980944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Aspel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7699248" y="3547872"/>
            <a:ext cx="1847088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7699248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Microsip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9747504" y="3547872"/>
            <a:ext cx="1847088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9747504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7699248" y="4114800"/>
            <a:ext cx="1847088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3E3E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7699248" y="41148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1300" dirty="0"/>
          </a:p>
        </p:txBody>
      </p:sp>
      <p:sp>
        <p:nvSpPr>
          <p:cNvPr id="29" name="Text 24"/>
          <p:cNvSpPr/>
          <p:nvPr/>
        </p:nvSpPr>
        <p:spPr>
          <a:xfrm>
            <a:off x="7699248" y="4754880"/>
            <a:ext cx="360547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herramientas, cinco versiones de la verdad y ningún puente automático entre ellas.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eso cuesta, todos los meses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664208"/>
            <a:ext cx="3456432" cy="1883664"/>
          </a:xfrm>
          <a:prstGeom prst="roundRect">
            <a:avLst>
              <a:gd name="adj" fmla="val 4854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197510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103120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920240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 que caduca en el anaquel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50392" y="2596896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control de lote y caducidad, la merma se descubre cuando ya no hay nada que hacer.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70248" y="1664208"/>
            <a:ext cx="3456432" cy="1883664"/>
          </a:xfrm>
          <a:prstGeom prst="roundRect">
            <a:avLst>
              <a:gd name="adj" fmla="val 4854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97510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2103120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11496" y="1920240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prestados que nunca se cobraron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26280" y="2596896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hizo en piso y no llegó a la cuenta simplemente se regala.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946136" y="1664208"/>
            <a:ext cx="3456432" cy="1883664"/>
          </a:xfrm>
          <a:prstGeom prst="roundRect">
            <a:avLst>
              <a:gd name="adj" fmla="val 4854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02168" y="197510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2103120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787384" y="1920240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cuenta no cuadra con el expediente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202168" y="2596896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registros del mismo evento que hay que reconciliar a mano, paciente por paciente.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94360" y="3749040"/>
            <a:ext cx="3456432" cy="1883664"/>
          </a:xfrm>
          <a:prstGeom prst="roundRect">
            <a:avLst>
              <a:gd name="adj" fmla="val 4854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50392" y="405993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187952"/>
            <a:ext cx="201168" cy="2011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35608" y="4005072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sin visibilidad del efectivo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50392" y="4681728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autoriza sin saber a qué ya se comprometió el dinero de las próximas semanas.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70248" y="3749040"/>
            <a:ext cx="3456432" cy="1883664"/>
          </a:xfrm>
          <a:prstGeom prst="roundRect">
            <a:avLst>
              <a:gd name="adj" fmla="val 4854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405993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4187952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11496" y="4005072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personal capturando dos veces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26280" y="4681728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gente calificada gastado en mover datos entre pantallas.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946136" y="3749040"/>
            <a:ext cx="3456432" cy="1883664"/>
          </a:xfrm>
          <a:prstGeom prst="roundRect">
            <a:avLst>
              <a:gd name="adj" fmla="val 4854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02168" y="405993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4187952"/>
            <a:ext cx="201168" cy="20116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787384" y="4005072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con datos de la semana pasada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202168" y="4681728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número llega ya cambió, y la decisión se toma por intuición.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658368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1042416"/>
            <a:ext cx="110029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cadena, sin huecos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94360" y="1792224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2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eslabón se concilia contra el siguiente. Nada se captura dos veces y nada se pierde en el camino.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975104" cy="1828800"/>
          </a:xfrm>
          <a:prstGeom prst="roundRect">
            <a:avLst>
              <a:gd name="adj" fmla="val 6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98448" y="299923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188" y="3157972"/>
            <a:ext cx="249448" cy="2494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67588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" y="400507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ocurrió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619756" y="356616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843784" y="2743200"/>
            <a:ext cx="1975104" cy="1828800"/>
          </a:xfrm>
          <a:prstGeom prst="roundRect">
            <a:avLst>
              <a:gd name="adj" fmla="val 6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47872" y="299923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612" y="3157972"/>
            <a:ext cx="249448" cy="2494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843784" y="367588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2953512" y="400507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consumió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4869180" y="356616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093208" y="2743200"/>
            <a:ext cx="1975104" cy="1828800"/>
          </a:xfrm>
          <a:prstGeom prst="roundRect">
            <a:avLst>
              <a:gd name="adj" fmla="val 6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797296" y="299923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6036" y="3157972"/>
            <a:ext cx="249448" cy="2494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093208" y="367588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5202936" y="400507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cobró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7118604" y="356616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342632" y="2743200"/>
            <a:ext cx="1975104" cy="1828800"/>
          </a:xfrm>
          <a:prstGeom prst="roundRect">
            <a:avLst>
              <a:gd name="adj" fmla="val 6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46720" y="299923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5460" y="3157972"/>
            <a:ext cx="249448" cy="2494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42632" y="367588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7452360" y="400507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entró</a:t>
            </a:r>
            <a:endParaRPr lang="en-US" sz="1150" dirty="0"/>
          </a:p>
        </p:txBody>
      </p:sp>
      <p:sp>
        <p:nvSpPr>
          <p:cNvPr id="29" name="Shape 23"/>
          <p:cNvSpPr/>
          <p:nvPr/>
        </p:nvSpPr>
        <p:spPr>
          <a:xfrm>
            <a:off x="9368028" y="356616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9592056" y="2743200"/>
            <a:ext cx="1975104" cy="1828800"/>
          </a:xfrm>
          <a:prstGeom prst="roundRect">
            <a:avLst>
              <a:gd name="adj" fmla="val 6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0296144" y="299923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4884" y="3157972"/>
            <a:ext cx="249448" cy="24944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592056" y="3675888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</a:t>
            </a:r>
            <a:endParaRPr lang="en-US" sz="1500" dirty="0"/>
          </a:p>
        </p:txBody>
      </p:sp>
      <p:sp>
        <p:nvSpPr>
          <p:cNvPr id="34" name="Text 27"/>
          <p:cNvSpPr/>
          <p:nvPr/>
        </p:nvSpPr>
        <p:spPr>
          <a:xfrm>
            <a:off x="9701784" y="4005072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declara</a:t>
            </a:r>
            <a:endParaRPr lang="en-US" sz="1150" dirty="0"/>
          </a:p>
        </p:txBody>
      </p:sp>
      <p:sp>
        <p:nvSpPr>
          <p:cNvPr id="35" name="Text 28"/>
          <p:cNvSpPr/>
          <p:nvPr/>
        </p:nvSpPr>
        <p:spPr>
          <a:xfrm>
            <a:off x="594360" y="5047488"/>
            <a:ext cx="1100297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se registró en el expediente, está en la cuenta. Si está en la cuenta, ocurrió en el expediente.</a:t>
            </a:r>
            <a:endParaRPr lang="en-US" sz="1700" dirty="0"/>
          </a:p>
        </p:txBody>
      </p:sp>
      <p:sp>
        <p:nvSpPr>
          <p:cNvPr id="36" name="Text 29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 se puede entregar en dos meses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no se empieza de cero. La plataforma contable ya existe, está en producción y ya se adaptó a cinco operaciones distintas.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267712"/>
            <a:ext cx="3456432" cy="1755648"/>
          </a:xfrm>
          <a:prstGeom prst="roundRect">
            <a:avLst>
              <a:gd name="adj" fmla="val 520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13816" y="24688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13816" y="31638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giros distintos ya corriendo sobre la misma plataforma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70248" y="2267712"/>
            <a:ext cx="3456432" cy="1755648"/>
          </a:xfrm>
          <a:prstGeom prst="roundRect">
            <a:avLst>
              <a:gd name="adj" fmla="val 520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89704" y="24688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Día 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9704" y="31638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contabilidad, facturación, bancos y nómina disponibles desde el arranque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46136" y="2267712"/>
            <a:ext cx="3456432" cy="1755648"/>
          </a:xfrm>
          <a:prstGeom prst="roundRect">
            <a:avLst>
              <a:gd name="adj" fmla="val 520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65592" y="24688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165592" y="316382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nuevos que aprender para el área contable: ya es su herramienta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4279392"/>
            <a:ext cx="11002975" cy="1810512"/>
          </a:xfrm>
          <a:prstGeom prst="roundRect">
            <a:avLst>
              <a:gd name="adj" fmla="val 6061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05256" y="4480560"/>
            <a:ext cx="103811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Haltus Hope hereda sin desarrollarlo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05256" y="4864608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 completa, con cierre mensual y candado de ejercicio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timbrada y complementos de pago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Conciliación bancaria automática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63640" y="486460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Nómina, obligaciones fiscales y cumplimiento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de auditoría de cada movimiento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con autorizaciones y pagos a proveedores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sistema, un solo acceso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773936"/>
            <a:ext cx="5943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usuario y una sola contraseña para todo el hospital.</a:t>
            </a:r>
            <a:endParaRPr lang="en-US" sz="1450" dirty="0"/>
          </a:p>
          <a:p>
            <a:pPr marL="342900" indent="-3429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computadora de escritorio y en el celular, con la misma información.</a:t>
            </a:r>
            <a:endParaRPr lang="en-US" sz="1450" dirty="0"/>
          </a:p>
          <a:p>
            <a:pPr marL="342900" indent="-3429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persona ve únicamente su área: enfermería, farmacia, caja, compras o dirección.</a:t>
            </a:r>
            <a:endParaRPr lang="en-US" sz="1450" dirty="0"/>
          </a:p>
          <a:p>
            <a:pPr marL="342900" indent="-3429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del hospital es la cara visible; el motor contable ya probado trabaja detrás.</a:t>
            </a:r>
            <a:endParaRPr lang="en-US" sz="1450" dirty="0"/>
          </a:p>
          <a:p>
            <a:pPr marL="342900" indent="-342900">
              <a:lnSpc>
                <a:spcPct val="114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instalar nada: se abre en el navegador y se actualiza solo.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040880" y="1709928"/>
            <a:ext cx="4556455" cy="2212848"/>
          </a:xfrm>
          <a:prstGeom prst="roundRect">
            <a:avLst>
              <a:gd name="adj" fmla="val 4132"/>
            </a:avLst>
          </a:prstGeom>
          <a:solidFill>
            <a:srgbClr val="04353F"/>
          </a:solidFill>
          <a:ln w="12700">
            <a:solidFill>
              <a:srgbClr val="04353F"/>
            </a:solidFill>
            <a:prstDash val="solid"/>
          </a:ln>
          <a:effectLst>
            <a:outerShdw sx="100000" sy="100000" kx="0" ky="0" algn="bl" rotWithShape="0" blurRad="177800" dist="25400" dir="5400000">
              <a:srgbClr val="0A3038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40880" y="1920240"/>
            <a:ext cx="4556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424928" y="2322576"/>
            <a:ext cx="3788359" cy="384048"/>
          </a:xfrm>
          <a:prstGeom prst="roundRect">
            <a:avLst>
              <a:gd name="adj" fmla="val 14286"/>
            </a:avLst>
          </a:prstGeom>
          <a:solidFill>
            <a:srgbClr val="0A4A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07808" y="2322576"/>
            <a:ext cx="34225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24928" y="2798064"/>
            <a:ext cx="3788359" cy="384048"/>
          </a:xfrm>
          <a:prstGeom prst="roundRect">
            <a:avLst>
              <a:gd name="adj" fmla="val 14286"/>
            </a:avLst>
          </a:prstGeom>
          <a:solidFill>
            <a:srgbClr val="0A4A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7808" y="2798064"/>
            <a:ext cx="34225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y facturación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24928" y="3273552"/>
            <a:ext cx="3788359" cy="384048"/>
          </a:xfrm>
          <a:prstGeom prst="roundRect">
            <a:avLst>
              <a:gd name="adj" fmla="val 14286"/>
            </a:avLst>
          </a:prstGeom>
          <a:solidFill>
            <a:srgbClr val="0A4A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07808" y="3273552"/>
            <a:ext cx="34225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y almacén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75320" y="4096512"/>
            <a:ext cx="1737360" cy="1298448"/>
          </a:xfrm>
          <a:prstGeom prst="roundRect">
            <a:avLst>
              <a:gd name="adj" fmla="val 8451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A3038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851392" y="4315968"/>
            <a:ext cx="585216" cy="5852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5252" y="4479828"/>
            <a:ext cx="257495" cy="25749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275320" y="49743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Móvil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040880" y="5468112"/>
            <a:ext cx="4556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Enfermería, mantenimiento y pacientes trabajan desde el teléfono.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información fiscal, histórica y al día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trae el histórico fiscal completo del hospital y lo mantiene actualizado solo. Nadie captura nada.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59152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79" y="251277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33172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histórico, completo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371600" y="263347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vida fiscal del hospital queda dentro del sistema desde el primer día, sin capturar un solo documento.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594360" y="3493008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" y="3646627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465576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mantiene al día solo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371600" y="37673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nuevo entra por su cuenta, sin que nadie tenga que acordarse de descargar ni subir nada.</a:t>
            </a:r>
            <a:endParaRPr lang="en-US" sz="1280" dirty="0"/>
          </a:p>
        </p:txBody>
      </p:sp>
      <p:sp>
        <p:nvSpPr>
          <p:cNvPr id="13" name="Shape 9"/>
          <p:cNvSpPr/>
          <p:nvPr/>
        </p:nvSpPr>
        <p:spPr>
          <a:xfrm>
            <a:off x="594360" y="4626864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" y="4780483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599432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avisa si algo falta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371600" y="490118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revisa su propia cobertura período por período y levanta la mano cuando detecta un hueco.</a:t>
            </a:r>
            <a:endParaRPr lang="en-US" sz="1280" dirty="0"/>
          </a:p>
        </p:txBody>
      </p:sp>
      <p:sp>
        <p:nvSpPr>
          <p:cNvPr id="17" name="Shape 12"/>
          <p:cNvSpPr/>
          <p:nvPr/>
        </p:nvSpPr>
        <p:spPr>
          <a:xfrm>
            <a:off x="6675120" y="2359152"/>
            <a:ext cx="4922215" cy="3200400"/>
          </a:xfrm>
          <a:prstGeom prst="roundRect">
            <a:avLst>
              <a:gd name="adj" fmla="val 3429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A3038">
                <a:alpha val="14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6986016" y="26517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986016" y="3054096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día que llegue una revisión, una solicitud de crédito o un cambio de contador, la información ya está completa y ordenada.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986016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reconstruye a las prisas: se consulta.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peso, clasificado y con dueño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709928"/>
            <a:ext cx="11002975" cy="1207008"/>
          </a:xfrm>
          <a:prstGeom prst="roundRect">
            <a:avLst>
              <a:gd name="adj" fmla="val 9091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92024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«Lo que ningún proceso reclama, se reporta — nunca se reparte a ojo.»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51560" y="2414016"/>
            <a:ext cx="10088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regla que separa un número confiable de uno que sólo cuadra en la hoja.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3145536"/>
            <a:ext cx="3456432" cy="2212848"/>
          </a:xfrm>
          <a:prstGeom prst="roundRect">
            <a:avLst>
              <a:gd name="adj" fmla="val 4132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0392" y="345643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58444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35608" y="3401568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queda amarrado a su origen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50392" y="4078224"/>
            <a:ext cx="2944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comprobante se liga al paciente, la compra o el servicio que lo generó. Siempre se puede llegar al documento.</a:t>
            </a:r>
            <a:endParaRPr lang="en-US" sz="1220" dirty="0"/>
          </a:p>
        </p:txBody>
      </p:sp>
      <p:sp>
        <p:nvSpPr>
          <p:cNvPr id="12" name="Shape 9"/>
          <p:cNvSpPr/>
          <p:nvPr/>
        </p:nvSpPr>
        <p:spPr>
          <a:xfrm>
            <a:off x="4270248" y="3145536"/>
            <a:ext cx="3456432" cy="2212848"/>
          </a:xfrm>
          <a:prstGeom prst="roundRect">
            <a:avLst>
              <a:gd name="adj" fmla="val 4132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26280" y="345643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358444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11496" y="3401568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coloca solo, se aprende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526280" y="4078224"/>
            <a:ext cx="2944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sistema no sabe dónde va algo, lo pregunta una vez y guarda la regla. La segunda vez ya no pregunta.</a:t>
            </a:r>
            <a:endParaRPr lang="en-US" sz="1220" dirty="0"/>
          </a:p>
        </p:txBody>
      </p:sp>
      <p:sp>
        <p:nvSpPr>
          <p:cNvPr id="17" name="Shape 13"/>
          <p:cNvSpPr/>
          <p:nvPr/>
        </p:nvSpPr>
        <p:spPr>
          <a:xfrm>
            <a:off x="7946136" y="3145536"/>
            <a:ext cx="3456432" cy="2212848"/>
          </a:xfrm>
          <a:prstGeom prst="roundRect">
            <a:avLst>
              <a:gd name="adj" fmla="val 4132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02168" y="345643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358444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787384" y="3401568"/>
            <a:ext cx="2359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se audita a sí mismo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8202168" y="4078224"/>
            <a:ext cx="2944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 en pesos lo que todavía no tiene explicación, en lugar de repartirlo para que el reporte se vea limpio.</a:t>
            </a:r>
            <a:endParaRPr lang="en-US" sz="1220" dirty="0"/>
          </a:p>
        </p:txBody>
      </p:sp>
      <p:sp>
        <p:nvSpPr>
          <p:cNvPr id="22" name="Text 17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Pacientes y expediente clínico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expediente completo, en un solo lugar y disponible en el momento en que se necesita.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267712"/>
            <a:ext cx="3456432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254203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67004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523744"/>
            <a:ext cx="2359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clínica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50392" y="3127248"/>
            <a:ext cx="2944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Antecedentes, alergias y padecimientos, capturados una sola vez.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4270248" y="2267712"/>
            <a:ext cx="3456432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54203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2670048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11496" y="2523744"/>
            <a:ext cx="2359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 evolución y egreso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526280" y="3127248"/>
            <a:ext cx="2944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nota firmada, fechada y ligada al episodio del paciente.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7946136" y="2267712"/>
            <a:ext cx="3456432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02168" y="2542032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2670048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87384" y="2523744"/>
            <a:ext cx="2359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CIE-10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202168" y="3127248"/>
            <a:ext cx="2944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estándar que permite analizar la casuística del hospital.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594360" y="4041648"/>
            <a:ext cx="3456432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50392" y="4315968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443984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435608" y="4297680"/>
            <a:ext cx="2359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Signos vitales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850392" y="4901184"/>
            <a:ext cx="2944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desde el celular, a pie de cama, sin hoja de papel intermedia.</a:t>
            </a:r>
            <a:endParaRPr lang="en-US" sz="1180" dirty="0"/>
          </a:p>
        </p:txBody>
      </p:sp>
      <p:sp>
        <p:nvSpPr>
          <p:cNvPr id="25" name="Shape 19"/>
          <p:cNvSpPr/>
          <p:nvPr/>
        </p:nvSpPr>
        <p:spPr>
          <a:xfrm>
            <a:off x="4270248" y="4041648"/>
            <a:ext cx="3456432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315968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4443984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111496" y="4297680"/>
            <a:ext cx="2359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Recetas y órdenes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4526280" y="4901184"/>
            <a:ext cx="2944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indica queda registrado y descuenta de farmacia al aplicarse.</a:t>
            </a:r>
            <a:endParaRPr lang="en-US" sz="1180" dirty="0"/>
          </a:p>
        </p:txBody>
      </p:sp>
      <p:sp>
        <p:nvSpPr>
          <p:cNvPr id="30" name="Shape 23"/>
          <p:cNvSpPr/>
          <p:nvPr/>
        </p:nvSpPr>
        <p:spPr>
          <a:xfrm>
            <a:off x="7946136" y="4041648"/>
            <a:ext cx="3456432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02168" y="4315968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4443984"/>
            <a:ext cx="201168" cy="20116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787384" y="4297680"/>
            <a:ext cx="23591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Consentimientos y resguardo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8202168" y="4901184"/>
            <a:ext cx="29443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 informado y conservación conforme a la normativa.</a:t>
            </a:r>
            <a:endParaRPr lang="en-US" sz="1180" dirty="0"/>
          </a:p>
        </p:txBody>
      </p:sp>
      <p:sp>
        <p:nvSpPr>
          <p:cNvPr id="35" name="Text 27"/>
          <p:cNvSpPr/>
          <p:nvPr/>
        </p:nvSpPr>
        <p:spPr>
          <a:xfrm>
            <a:off x="594360" y="5724144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Cumple con NOM-004-SSA3 (expediente clínico) y NOM-024-SSA3 (registro electrónico). Los datos de salud son datos personales sensibles bajo la LFPDPPP: el sistema los trata como tales.</a:t>
            </a:r>
            <a:endParaRPr lang="en-US" sz="1150" dirty="0"/>
          </a:p>
        </p:txBody>
      </p:sp>
      <p:sp>
        <p:nvSpPr>
          <p:cNvPr id="36" name="Text 28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37" name="Text 29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catálogo de servicios, varios precios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servicio vale distinto según quién paga. El sistema lo resuelve solo: nadie consulta una lista impresa.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40864"/>
            <a:ext cx="3840480" cy="3017520"/>
          </a:xfrm>
          <a:prstGeom prst="roundRect">
            <a:avLst>
              <a:gd name="adj" fmla="val 3636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A3038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5256" y="265176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8875" y="2805379"/>
            <a:ext cx="241402" cy="24140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05256" y="3328416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único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05256" y="3694176"/>
            <a:ext cx="32186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Consultas, procedimientos, quirófano, hospitalización, estudios y material. Un solo catálogo que todo el hospital comparte.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05256" y="4791456"/>
            <a:ext cx="321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en un lugar y aplica en todos.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0" y="2340864"/>
            <a:ext cx="3364992" cy="137160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010912" y="256032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Aseguradoras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010912" y="288950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por convenio, distinta para cada aseguradora.</a:t>
            </a:r>
            <a:endParaRPr lang="en-US" sz="1220" dirty="0"/>
          </a:p>
        </p:txBody>
      </p:sp>
      <p:sp>
        <p:nvSpPr>
          <p:cNvPr id="14" name="Shape 11"/>
          <p:cNvSpPr/>
          <p:nvPr/>
        </p:nvSpPr>
        <p:spPr>
          <a:xfrm>
            <a:off x="8339328" y="2340864"/>
            <a:ext cx="3364992" cy="137160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595360" y="256032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Empleados del hospital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595360" y="2889504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preferente del personal y su familia directa.</a:t>
            </a:r>
            <a:endParaRPr lang="en-US" sz="1220" dirty="0"/>
          </a:p>
        </p:txBody>
      </p:sp>
      <p:sp>
        <p:nvSpPr>
          <p:cNvPr id="17" name="Shape 14"/>
          <p:cNvSpPr/>
          <p:nvPr/>
        </p:nvSpPr>
        <p:spPr>
          <a:xfrm>
            <a:off x="4754880" y="3913632"/>
            <a:ext cx="3364992" cy="137160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010912" y="4133088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Familiares y cortesías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5010912" y="4462272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Descuentos autorizados, con registro de quién los autorizó.</a:t>
            </a:r>
            <a:endParaRPr lang="en-US" sz="1220" dirty="0"/>
          </a:p>
        </p:txBody>
      </p:sp>
      <p:sp>
        <p:nvSpPr>
          <p:cNvPr id="20" name="Shape 17"/>
          <p:cNvSpPr/>
          <p:nvPr/>
        </p:nvSpPr>
        <p:spPr>
          <a:xfrm>
            <a:off x="8339328" y="3913632"/>
            <a:ext cx="3364992" cy="1371600"/>
          </a:xfrm>
          <a:prstGeom prst="roundRect">
            <a:avLst>
              <a:gd name="adj" fmla="val 666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595360" y="4133088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Particulares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595360" y="4462272"/>
            <a:ext cx="28529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lista, la referencia contra la que se miden las demás.</a:t>
            </a:r>
            <a:endParaRPr lang="en-US" sz="1220" dirty="0"/>
          </a:p>
        </p:txBody>
      </p:sp>
      <p:sp>
        <p:nvSpPr>
          <p:cNvPr id="23" name="Text 20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cuenta del paciente cuadra con su expediente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773936"/>
            <a:ext cx="4754880" cy="3017520"/>
          </a:xfrm>
          <a:prstGeom prst="roundRect">
            <a:avLst>
              <a:gd name="adj" fmla="val 363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86968" y="2048256"/>
            <a:ext cx="512064" cy="51206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0346" y="2191634"/>
            <a:ext cx="225308" cy="2253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27048" y="2121408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05256" y="2761488"/>
            <a:ext cx="41330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y egreso del paciente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Procedimientos realizados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aplicados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estancia y quirófano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812280" y="1773936"/>
            <a:ext cx="4754880" cy="3017520"/>
          </a:xfrm>
          <a:prstGeom prst="roundRect">
            <a:avLst>
              <a:gd name="adj" fmla="val 363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104888" y="2048256"/>
            <a:ext cx="512064" cy="51206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8266" y="2191634"/>
            <a:ext cx="225308" cy="2253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44968" y="2121408"/>
            <a:ext cx="3529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7123176" y="2761488"/>
            <a:ext cx="41330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servicio, con su tarifa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insumo, con su lote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Estancia y quirófano cobrados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por pagador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824728" y="2980944"/>
            <a:ext cx="786384" cy="786384"/>
          </a:xfrm>
          <a:prstGeom prst="ellipse">
            <a:avLst/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824728" y="2980944"/>
            <a:ext cx="786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3000" dirty="0"/>
          </a:p>
        </p:txBody>
      </p:sp>
      <p:sp>
        <p:nvSpPr>
          <p:cNvPr id="16" name="Text 12"/>
          <p:cNvSpPr/>
          <p:nvPr/>
        </p:nvSpPr>
        <p:spPr>
          <a:xfrm>
            <a:off x="594360" y="4956048"/>
            <a:ext cx="11002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se registró en el expediente, está en la cuenta. Si está en la cuenta, ocurrió en el expediente. El sistema no deja que las dos listas se separen.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cotización a la factura, sin recapturar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29584" cy="1737360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75104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817" y="2108241"/>
            <a:ext cx="209215" cy="2092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0299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578608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arma con el tarifario del grupo que corresponde y se le entrega al paciente por escrito.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97096" y="2514600"/>
            <a:ext cx="20116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71416" y="1737360"/>
            <a:ext cx="3529584" cy="1737360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45736" y="1975104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873" y="2108241"/>
            <a:ext cx="209215" cy="2092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30952" y="20299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745736" y="2578608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ingresar, la cotización se vuelve la cuenta y se va llenando con lo que realmente se consumió.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74152" y="2514600"/>
            <a:ext cx="20116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48472" y="1737360"/>
            <a:ext cx="3529584" cy="1737360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22792" y="1975104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929" y="2108241"/>
            <a:ext cx="209215" cy="2092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208008" y="20299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622792" y="2578608"/>
            <a:ext cx="2980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emite desde la cuenta, ya timbrada y con los impuestos correctos.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94360" y="3749040"/>
            <a:ext cx="110029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factura de un hospital lleva tres tratamientos de IVA distintos en el mismo documento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594360" y="4151376"/>
            <a:ext cx="3456432" cy="969264"/>
          </a:xfrm>
          <a:prstGeom prst="roundRect">
            <a:avLst>
              <a:gd name="adj" fmla="val 9434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50392" y="4297680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Gravados al 16%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50392" y="464515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hospitalarios</a:t>
            </a:r>
            <a:endParaRPr lang="en-US" sz="1180" dirty="0"/>
          </a:p>
        </p:txBody>
      </p:sp>
      <p:sp>
        <p:nvSpPr>
          <p:cNvPr id="25" name="Shape 20"/>
          <p:cNvSpPr/>
          <p:nvPr/>
        </p:nvSpPr>
        <p:spPr>
          <a:xfrm>
            <a:off x="4270248" y="4151376"/>
            <a:ext cx="3456432" cy="969264"/>
          </a:xfrm>
          <a:prstGeom prst="roundRect">
            <a:avLst>
              <a:gd name="adj" fmla="val 9434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26280" y="4297680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Tasa 0%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4526280" y="464515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Medicinas de patente</a:t>
            </a:r>
            <a:endParaRPr lang="en-US" sz="1180" dirty="0"/>
          </a:p>
        </p:txBody>
      </p:sp>
      <p:sp>
        <p:nvSpPr>
          <p:cNvPr id="28" name="Shape 23"/>
          <p:cNvSpPr/>
          <p:nvPr/>
        </p:nvSpPr>
        <p:spPr>
          <a:xfrm>
            <a:off x="7946136" y="4151376"/>
            <a:ext cx="3456432" cy="969264"/>
          </a:xfrm>
          <a:prstGeom prst="roundRect">
            <a:avLst>
              <a:gd name="adj" fmla="val 9434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202168" y="4297680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Exentos</a:t>
            </a:r>
            <a:endParaRPr lang="en-US" sz="1700" dirty="0"/>
          </a:p>
        </p:txBody>
      </p:sp>
      <p:sp>
        <p:nvSpPr>
          <p:cNvPr id="30" name="Text 25"/>
          <p:cNvSpPr/>
          <p:nvPr/>
        </p:nvSpPr>
        <p:spPr>
          <a:xfrm>
            <a:off x="8202168" y="464515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Honorarios de médicos personas físicas</a:t>
            </a:r>
            <a:endParaRPr lang="en-US" sz="1180" dirty="0"/>
          </a:p>
        </p:txBody>
      </p:sp>
      <p:sp>
        <p:nvSpPr>
          <p:cNvPr id="31" name="Text 26"/>
          <p:cNvSpPr/>
          <p:nvPr/>
        </p:nvSpPr>
        <p:spPr>
          <a:xfrm>
            <a:off x="594360" y="5248656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los separa solo. Además parte la cuenta entre aseguradora y paciente cuando hay deducible y coaseguro.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 y farmacia, con lote y caducidad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pierde por no controlar el lote no se recupera. Aquí se ve venir antes de que pase.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40864"/>
            <a:ext cx="2706624" cy="1700784"/>
          </a:xfrm>
          <a:prstGeom prst="roundRect">
            <a:avLst>
              <a:gd name="adj" fmla="val 537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259689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724912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596896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Kardex por movimiento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50392" y="316382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entrada y salida deja rastro. La existencia no se teclea: se calcula.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20440" y="2340864"/>
            <a:ext cx="2706624" cy="1700784"/>
          </a:xfrm>
          <a:prstGeom prst="roundRect">
            <a:avLst>
              <a:gd name="adj" fmla="val 537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76472" y="259689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488" y="2724912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361688" y="2596896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 y caducidades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776472" y="316382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 anticipada antes de que el medicamento venza, no cuando ya se perdió.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" y="4169664"/>
            <a:ext cx="2706624" cy="1700784"/>
          </a:xfrm>
          <a:prstGeom prst="roundRect">
            <a:avLst>
              <a:gd name="adj" fmla="val 537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0392" y="442569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553712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35608" y="4425696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 selectivos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50392" y="499262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 cíclicos por zona o por familia, sin parar la operación del hospital.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520440" y="4169664"/>
            <a:ext cx="2706624" cy="1700784"/>
          </a:xfrm>
          <a:prstGeom prst="roundRect">
            <a:avLst>
              <a:gd name="adj" fmla="val 537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776472" y="442569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4488" y="4553712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361688" y="4425696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mes a mes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3776472" y="499262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se cierra cada mes y queda amarrado al valor en libros.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675120" y="2340864"/>
            <a:ext cx="4922215" cy="1572768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2700">
            <a:solidFill>
              <a:srgbClr val="E8C59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967728" y="2596896"/>
            <a:ext cx="512064" cy="512064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1106" y="2740274"/>
            <a:ext cx="225308" cy="22530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626096" y="2633472"/>
            <a:ext cx="3678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Caduca en 45 días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6967728" y="3200400"/>
            <a:ext cx="43369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8A5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avisa con tiempo suficiente para desplazar, devolver al proveedor o reasignar el lote — cuando todavía se puede hacer algo.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6675120" y="4151376"/>
            <a:ext cx="4922215" cy="1810512"/>
          </a:xfrm>
          <a:prstGeom prst="roundRect">
            <a:avLst>
              <a:gd name="adj" fmla="val 6061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A3038">
                <a:alpha val="14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967728" y="4389120"/>
            <a:ext cx="512064" cy="51206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1106" y="4532498"/>
            <a:ext cx="225308" cy="22530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626096" y="4425696"/>
            <a:ext cx="367863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sustancias reguladas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967728" y="4992624"/>
            <a:ext cx="43369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Estupefacientes y psicotrópicos llevan su control específico conforme a COFEPRIS: cada movimiento con responsable, fecha y destino.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Compras con autorización, de punta a punta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compra sin autorización y nadie autoriza a ciegas. Todo el ciclo queda registrado.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59152"/>
            <a:ext cx="1664208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79576" y="2578608"/>
            <a:ext cx="493776" cy="49377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7833" y="2716865"/>
            <a:ext cx="217261" cy="21726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7512" y="320040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Requisición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276856" y="3017520"/>
            <a:ext cx="15544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50592" y="2359152"/>
            <a:ext cx="1664208" cy="1481328"/>
          </a:xfrm>
          <a:prstGeom prst="roundRect">
            <a:avLst>
              <a:gd name="adj" fmla="val 6173"/>
            </a:avLst>
          </a:prstGeom>
          <a:solidFill>
            <a:srgbClr val="04353F"/>
          </a:solidFill>
          <a:ln w="9525">
            <a:solidFill>
              <a:srgbClr val="04353F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35808" y="2578608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4065" y="2716865"/>
            <a:ext cx="217261" cy="21726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523744" y="320040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133088" y="3017520"/>
            <a:ext cx="15544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06824" y="2359152"/>
            <a:ext cx="1664208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892040" y="2578608"/>
            <a:ext cx="493776" cy="49377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297" y="2716865"/>
            <a:ext cx="217261" cy="2172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379976" y="320040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compra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989320" y="3017520"/>
            <a:ext cx="15544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163056" y="2359152"/>
            <a:ext cx="1664208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748272" y="2578608"/>
            <a:ext cx="493776" cy="49377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6529" y="2716865"/>
            <a:ext cx="217261" cy="21726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236208" y="320040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Recepción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7845552" y="3017520"/>
            <a:ext cx="15544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019288" y="2359152"/>
            <a:ext cx="1664208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604504" y="2578608"/>
            <a:ext cx="493776" cy="49377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2761" y="2716865"/>
            <a:ext cx="217261" cy="21726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8092440" y="320040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9701784" y="3017520"/>
            <a:ext cx="155448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9875520" y="2359152"/>
            <a:ext cx="1664208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10460736" y="2578608"/>
            <a:ext cx="493776" cy="49377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8993" y="2716865"/>
            <a:ext cx="217261" cy="21726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948672" y="320040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</a:t>
            </a:r>
            <a:endParaRPr lang="en-US" sz="1250" dirty="0"/>
          </a:p>
        </p:txBody>
      </p:sp>
      <p:sp>
        <p:nvSpPr>
          <p:cNvPr id="34" name="Shape 26"/>
          <p:cNvSpPr/>
          <p:nvPr/>
        </p:nvSpPr>
        <p:spPr>
          <a:xfrm>
            <a:off x="594360" y="4114800"/>
            <a:ext cx="3456432" cy="1810512"/>
          </a:xfrm>
          <a:prstGeom prst="roundRect">
            <a:avLst>
              <a:gd name="adj" fmla="val 5051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50392" y="439826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408" y="4526280"/>
            <a:ext cx="201168" cy="20116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1435608" y="4370832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por monto y responsable</a:t>
            </a:r>
            <a:endParaRPr lang="en-US" sz="1350" dirty="0"/>
          </a:p>
        </p:txBody>
      </p:sp>
      <p:sp>
        <p:nvSpPr>
          <p:cNvPr id="38" name="Text 29"/>
          <p:cNvSpPr/>
          <p:nvPr/>
        </p:nvSpPr>
        <p:spPr>
          <a:xfrm>
            <a:off x="850392" y="4992624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nivel de gasto tiene quién lo aprueba. Sin la firma, la orden no avanza.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4270248" y="4114800"/>
            <a:ext cx="3456432" cy="1810512"/>
          </a:xfrm>
          <a:prstGeom prst="roundRect">
            <a:avLst>
              <a:gd name="adj" fmla="val 5051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4526280" y="439826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4296" y="4526280"/>
            <a:ext cx="201168" cy="20116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111496" y="4370832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cuenta por proveedor</a:t>
            </a:r>
            <a:endParaRPr lang="en-US" sz="1350" dirty="0"/>
          </a:p>
        </p:txBody>
      </p:sp>
      <p:sp>
        <p:nvSpPr>
          <p:cNvPr id="43" name="Text 33"/>
          <p:cNvSpPr/>
          <p:nvPr/>
        </p:nvSpPr>
        <p:spPr>
          <a:xfrm>
            <a:off x="4526280" y="4992624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le debe, desde cuándo y qué facturas amparan cada saldo.</a:t>
            </a:r>
            <a:endParaRPr lang="en-US" sz="1200" dirty="0"/>
          </a:p>
        </p:txBody>
      </p:sp>
      <p:sp>
        <p:nvSpPr>
          <p:cNvPr id="44" name="Shape 34"/>
          <p:cNvSpPr/>
          <p:nvPr/>
        </p:nvSpPr>
        <p:spPr>
          <a:xfrm>
            <a:off x="7946136" y="4114800"/>
            <a:ext cx="3456432" cy="1810512"/>
          </a:xfrm>
          <a:prstGeom prst="roundRect">
            <a:avLst>
              <a:gd name="adj" fmla="val 5051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45" name="Shape 35"/>
          <p:cNvSpPr/>
          <p:nvPr/>
        </p:nvSpPr>
        <p:spPr>
          <a:xfrm>
            <a:off x="8202168" y="4398264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30184" y="4526280"/>
            <a:ext cx="201168" cy="201168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8787384" y="4370832"/>
            <a:ext cx="2359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Conciliado contra el banco</a:t>
            </a:r>
            <a:endParaRPr lang="en-US" sz="1350" dirty="0"/>
          </a:p>
        </p:txBody>
      </p:sp>
      <p:sp>
        <p:nvSpPr>
          <p:cNvPr id="48" name="Text 37"/>
          <p:cNvSpPr/>
          <p:nvPr/>
        </p:nvSpPr>
        <p:spPr>
          <a:xfrm>
            <a:off x="8202168" y="4992624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pago se amarra solo con el movimiento bancario que lo liquidó.</a:t>
            </a:r>
            <a:endParaRPr lang="en-US" sz="1200" dirty="0"/>
          </a:p>
        </p:txBody>
      </p:sp>
      <p:sp>
        <p:nvSpPr>
          <p:cNvPr id="49" name="Text 38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50" name="Text 39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Saber con qué efectivo se cuenta, antes de gastarlo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755648"/>
            <a:ext cx="3456432" cy="1828800"/>
          </a:xfrm>
          <a:prstGeom prst="roundRect">
            <a:avLst>
              <a:gd name="adj" fmla="val 5000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13816" y="19568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pagar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13816" y="26517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debe, a quién y en qué fecha vence. Incluye lo ya comprometido en órdenes de compra.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0248" y="1755648"/>
            <a:ext cx="3456432" cy="1828800"/>
          </a:xfrm>
          <a:prstGeom prst="roundRect">
            <a:avLst>
              <a:gd name="adj" fmla="val 5000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9704" y="19568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cobrar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4489704" y="26517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falta de cobrar a aseguradoras y pacientes, y desde hace cuánto tiempo.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46136" y="1755648"/>
            <a:ext cx="3456432" cy="1828800"/>
          </a:xfrm>
          <a:prstGeom prst="roundRect">
            <a:avLst>
              <a:gd name="adj" fmla="val 5000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65592" y="19568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Proyección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8165592" y="26517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posición de efectivo de las próximas semanas, con lo que ya está comprometido.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94360" y="3822192"/>
            <a:ext cx="11002975" cy="1517904"/>
          </a:xfrm>
          <a:prstGeom prst="roundRect">
            <a:avLst>
              <a:gd name="adj" fmla="val 7229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A3038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3544" y="4114800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" y="4268419"/>
            <a:ext cx="241402" cy="24140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636776" y="4151376"/>
            <a:ext cx="96313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Conciliación bancaria automática detrás de todo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636776" y="4535424"/>
            <a:ext cx="95399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8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movimientos del banco se amarran solos con la factura o el pago que les corresponde. Lo que el sistema no puede resolver con certeza lo deja señalado para que una persona decida — nunca lo adivina.</a:t>
            </a:r>
            <a:endParaRPr lang="en-US" sz="1280" dirty="0"/>
          </a:p>
        </p:txBody>
      </p:sp>
      <p:sp>
        <p:nvSpPr>
          <p:cNvPr id="18" name="Text 15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de quirófanos y recursos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real, sin empalmes y sin llamadas para confirmar quién tiene qué reservado.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2167128" y="2286000"/>
            <a:ext cx="1571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8:00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38829" y="2286000"/>
            <a:ext cx="1571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10530" y="2286000"/>
            <a:ext cx="1571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82232" y="2286000"/>
            <a:ext cx="1571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14:00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53933" y="2286000"/>
            <a:ext cx="1571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025634" y="2286000"/>
            <a:ext cx="15717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18:00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596896"/>
            <a:ext cx="1481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Quirófano 1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67128" y="2596896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38829" y="2596896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0530" y="2596896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82232" y="2596896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3933" y="2596896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25634" y="2596896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090672"/>
            <a:ext cx="1481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Quirófano 2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167128" y="3090672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38829" y="3090672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10530" y="3090672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82232" y="3090672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53933" y="3090672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25634" y="3090672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84448"/>
            <a:ext cx="1481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167128" y="3584448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38829" y="3584448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10530" y="3584448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82232" y="3584448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53933" y="3584448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25634" y="3584448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4078224"/>
            <a:ext cx="1481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Consultorio A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167128" y="4078224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38829" y="4078224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10530" y="4078224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82232" y="4078224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53933" y="4078224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025634" y="4078224"/>
            <a:ext cx="1516837" cy="420624"/>
          </a:xfrm>
          <a:prstGeom prst="roundRect">
            <a:avLst>
              <a:gd name="adj" fmla="val 10870"/>
            </a:avLst>
          </a:prstGeom>
          <a:solidFill>
            <a:srgbClr val="F1F7F8"/>
          </a:solidFill>
          <a:ln w="6350">
            <a:solidFill>
              <a:srgbClr val="D3E3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67128" y="2596896"/>
            <a:ext cx="3088538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40280" y="2596896"/>
            <a:ext cx="29422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Cesárea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882232" y="2596896"/>
            <a:ext cx="3088538" cy="420624"/>
          </a:xfrm>
          <a:prstGeom prst="roundRect">
            <a:avLst>
              <a:gd name="adj" fmla="val 10870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55384" y="2596896"/>
            <a:ext cx="29422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Cx. general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738829" y="3090672"/>
            <a:ext cx="3088538" cy="420624"/>
          </a:xfrm>
          <a:prstGeom prst="roundRect">
            <a:avLst>
              <a:gd name="adj" fmla="val 10870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11981" y="3090672"/>
            <a:ext cx="29422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Ortopedia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453933" y="3090672"/>
            <a:ext cx="3088538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27085" y="3090672"/>
            <a:ext cx="29422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Hernia inguinal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5310530" y="3584448"/>
            <a:ext cx="3088538" cy="420624"/>
          </a:xfrm>
          <a:prstGeom prst="roundRect">
            <a:avLst>
              <a:gd name="adj" fmla="val 10870"/>
            </a:avLst>
          </a:prstGeom>
          <a:solidFill>
            <a:srgbClr val="0280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83682" y="3584448"/>
            <a:ext cx="29422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167128" y="4078224"/>
            <a:ext cx="3088538" cy="420624"/>
          </a:xfrm>
          <a:prstGeom prst="roundRect">
            <a:avLst>
              <a:gd name="adj" fmla="val 10870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40280" y="4078224"/>
            <a:ext cx="294223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externa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94360" y="4718304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50392" y="497433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5102352"/>
            <a:ext cx="201168" cy="201168"/>
          </a:xfrm>
          <a:prstGeom prst="rect">
            <a:avLst/>
          </a:prstGeom>
        </p:spPr>
      </p:pic>
      <p:sp>
        <p:nvSpPr>
          <p:cNvPr id="54" name="Text 51"/>
          <p:cNvSpPr/>
          <p:nvPr/>
        </p:nvSpPr>
        <p:spPr>
          <a:xfrm>
            <a:off x="1435608" y="497433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empalmes</a:t>
            </a:r>
            <a:endParaRPr lang="en-US" sz="1350" dirty="0"/>
          </a:p>
        </p:txBody>
      </p:sp>
      <p:sp>
        <p:nvSpPr>
          <p:cNvPr id="55" name="Text 52"/>
          <p:cNvSpPr/>
          <p:nvPr/>
        </p:nvSpPr>
        <p:spPr>
          <a:xfrm>
            <a:off x="850392" y="5541264"/>
            <a:ext cx="2944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no deja agendar dos cosas en el mismo quirófano a la misma hora.</a:t>
            </a:r>
            <a:endParaRPr lang="en-US" sz="1150" dirty="0"/>
          </a:p>
        </p:txBody>
      </p:sp>
      <p:sp>
        <p:nvSpPr>
          <p:cNvPr id="56" name="Shape 53"/>
          <p:cNvSpPr/>
          <p:nvPr/>
        </p:nvSpPr>
        <p:spPr>
          <a:xfrm>
            <a:off x="4270248" y="4718304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4526280" y="497433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5102352"/>
            <a:ext cx="201168" cy="201168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5111496" y="497433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Ligada a la cuenta</a:t>
            </a:r>
            <a:endParaRPr lang="en-US" sz="1350" dirty="0"/>
          </a:p>
        </p:txBody>
      </p:sp>
      <p:sp>
        <p:nvSpPr>
          <p:cNvPr id="60" name="Text 56"/>
          <p:cNvSpPr/>
          <p:nvPr/>
        </p:nvSpPr>
        <p:spPr>
          <a:xfrm>
            <a:off x="4526280" y="5541264"/>
            <a:ext cx="2944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tiempo reservado se cobra en la cuenta del paciente, sin recapturarlo.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7946136" y="4718304"/>
            <a:ext cx="3456432" cy="1481328"/>
          </a:xfrm>
          <a:prstGeom prst="roundRect">
            <a:avLst>
              <a:gd name="adj" fmla="val 617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8202168" y="497433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5102352"/>
            <a:ext cx="201168" cy="201168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8787384" y="497433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desde el celular</a:t>
            </a:r>
            <a:endParaRPr lang="en-US" sz="1350" dirty="0"/>
          </a:p>
        </p:txBody>
      </p:sp>
      <p:sp>
        <p:nvSpPr>
          <p:cNvPr id="65" name="Text 60"/>
          <p:cNvSpPr/>
          <p:nvPr/>
        </p:nvSpPr>
        <p:spPr>
          <a:xfrm>
            <a:off x="8202168" y="5541264"/>
            <a:ext cx="2944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Cirujanos y enfermería consultan su programación desde el teléfono.</a:t>
            </a:r>
            <a:endParaRPr lang="en-US" sz="1150" dirty="0"/>
          </a:p>
        </p:txBody>
      </p:sp>
      <p:sp>
        <p:nvSpPr>
          <p:cNvPr id="66" name="Text 61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67" name="Text 62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portal para el paciente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filas en el mostrador, menos llamadas al conmutador y una señal clara de servicio.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95728"/>
            <a:ext cx="3456432" cy="2103120"/>
          </a:xfrm>
          <a:prstGeom prst="roundRect">
            <a:avLst>
              <a:gd name="adj" fmla="val 434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265176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77977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65176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facturas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3218688"/>
            <a:ext cx="2944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paciente descarga su factura cuando la necesita, sin volver al hospital ni llamar a facturación.</a:t>
            </a:r>
            <a:endParaRPr lang="en-US" sz="1220" dirty="0"/>
          </a:p>
        </p:txBody>
      </p:sp>
      <p:sp>
        <p:nvSpPr>
          <p:cNvPr id="10" name="Shape 7"/>
          <p:cNvSpPr/>
          <p:nvPr/>
        </p:nvSpPr>
        <p:spPr>
          <a:xfrm>
            <a:off x="4270248" y="2395728"/>
            <a:ext cx="3456432" cy="2103120"/>
          </a:xfrm>
          <a:prstGeom prst="roundRect">
            <a:avLst>
              <a:gd name="adj" fmla="val 434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265176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277977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11496" y="265176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 citas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526280" y="3218688"/>
            <a:ext cx="2944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y confirma su próxima cita desde el celular, y recibe recordatorio.</a:t>
            </a:r>
            <a:endParaRPr lang="en-US" sz="1220" dirty="0"/>
          </a:p>
        </p:txBody>
      </p:sp>
      <p:sp>
        <p:nvSpPr>
          <p:cNvPr id="15" name="Shape 11"/>
          <p:cNvSpPr/>
          <p:nvPr/>
        </p:nvSpPr>
        <p:spPr>
          <a:xfrm>
            <a:off x="7946136" y="2395728"/>
            <a:ext cx="3456432" cy="2103120"/>
          </a:xfrm>
          <a:prstGeom prst="roundRect">
            <a:avLst>
              <a:gd name="adj" fmla="val 434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02168" y="265176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184" y="2779776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787384" y="265176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opinión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202168" y="3218688"/>
            <a:ext cx="29443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de satisfacción al egreso: se mide el servicio con datos, no con impresiones.</a:t>
            </a:r>
            <a:endParaRPr lang="en-US" sz="1220" dirty="0"/>
          </a:p>
        </p:txBody>
      </p:sp>
      <p:sp>
        <p:nvSpPr>
          <p:cNvPr id="20" name="Shape 15"/>
          <p:cNvSpPr/>
          <p:nvPr/>
        </p:nvSpPr>
        <p:spPr>
          <a:xfrm>
            <a:off x="594360" y="4791456"/>
            <a:ext cx="11002975" cy="1188720"/>
          </a:xfrm>
          <a:prstGeom prst="roundRect">
            <a:avLst>
              <a:gd name="adj" fmla="val 9231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923544" y="4992624"/>
            <a:ext cx="1034460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detalle que sus pacientes agradecen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923544" y="5340096"/>
            <a:ext cx="103446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gastos hospitalarios son deducibles para el paciente sólo si pagó por medio electrónico y la factura está a nombre de quien deduce. El portal le entrega el comprobante correcto desde el primer momento, sin trámite.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DIARIA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Mantenimiento del inmueble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hoy se reporta por WhatsApp y se pierde en la conversación, aquí tiene dueño y fecha.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95728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7979" y="2549347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36829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reporta desde el celular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371600" y="2670048"/>
            <a:ext cx="553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Cualquiera del hospital levanta el reporte con foto y ubicación, en el momento en que ve la falla.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594360" y="3602736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" y="3756355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3575304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asigna a un responsable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371600" y="3877056"/>
            <a:ext cx="553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prioridad y fecha compromiso. Deja de depender de que alguien se acuerde.</a:t>
            </a:r>
            <a:endParaRPr lang="en-US" sz="1280" dirty="0"/>
          </a:p>
        </p:txBody>
      </p:sp>
      <p:sp>
        <p:nvSpPr>
          <p:cNvPr id="13" name="Shape 9"/>
          <p:cNvSpPr/>
          <p:nvPr/>
        </p:nvSpPr>
        <p:spPr>
          <a:xfrm>
            <a:off x="594360" y="4809744"/>
            <a:ext cx="548640" cy="54864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" y="4963363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4782312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sigue hasta el cierre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371600" y="5084064"/>
            <a:ext cx="553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28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lo atendió, qué se hizo y cuánto costó. El historial queda por equipo y por área.</a:t>
            </a:r>
            <a:endParaRPr lang="en-US" sz="1280" dirty="0"/>
          </a:p>
        </p:txBody>
      </p:sp>
      <p:sp>
        <p:nvSpPr>
          <p:cNvPr id="17" name="Shape 12"/>
          <p:cNvSpPr/>
          <p:nvPr/>
        </p:nvSpPr>
        <p:spPr>
          <a:xfrm>
            <a:off x="7315200" y="2395728"/>
            <a:ext cx="4282135" cy="3346704"/>
          </a:xfrm>
          <a:prstGeom prst="roundRect">
            <a:avLst>
              <a:gd name="adj" fmla="val 3279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25400" dir="5400000">
              <a:srgbClr val="0A3038">
                <a:alpha val="14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626096" y="2706624"/>
            <a:ext cx="548640" cy="5486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9715" y="2860243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626096" y="34015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en un hospital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7626096" y="3822192"/>
            <a:ext cx="393192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aire acondicionado de quirófano, una planta de emergencia o un cuarto frío de farmacia no son mantenimiento común: si fallan, se detiene la operación o se pierde inventario.</a:t>
            </a:r>
            <a:endParaRPr lang="en-US" sz="1230" dirty="0"/>
          </a:p>
          <a:p>
            <a:pPr indent="0" marL="0">
              <a:lnSpc>
                <a:spcPct val="116000"/>
              </a:lnSpc>
              <a:buNone/>
            </a:pPr>
            <a:endParaRPr lang="en-US" sz="12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3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también sirve para comprobar el mantenimiento preventivo cuando alguien lo pide.</a:t>
            </a:r>
            <a:endParaRPr lang="en-US" sz="1230" dirty="0"/>
          </a:p>
        </p:txBody>
      </p:sp>
      <p:sp>
        <p:nvSpPr>
          <p:cNvPr id="22" name="Text 16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 DIARIA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Quejas y reclamos de pacientes, con seguimiento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queja sin dueño se repite. Con dueño y con reloj, se convierte en una mejora.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95728"/>
            <a:ext cx="5367528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0392" y="265176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779776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35608" y="2651760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por donde el paciente quiera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50392" y="3218688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el portal, en el mostrador o al egreso. Todas caen en la misma bandeja.</a:t>
            </a:r>
            <a:endParaRPr lang="en-US" sz="1220" dirty="0"/>
          </a:p>
        </p:txBody>
      </p:sp>
      <p:sp>
        <p:nvSpPr>
          <p:cNvPr id="10" name="Shape 7"/>
          <p:cNvSpPr/>
          <p:nvPr/>
        </p:nvSpPr>
        <p:spPr>
          <a:xfrm>
            <a:off x="6181344" y="2395728"/>
            <a:ext cx="5367528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651760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77977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022592" y="2651760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la tiene asignada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437376" y="3218688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responsable y tiempo de respuesta comprometido, no en un buzón que nadie abre.</a:t>
            </a:r>
            <a:endParaRPr lang="en-US" sz="1220" dirty="0"/>
          </a:p>
        </p:txBody>
      </p:sp>
      <p:sp>
        <p:nvSpPr>
          <p:cNvPr id="15" name="Shape 11"/>
          <p:cNvSpPr/>
          <p:nvPr/>
        </p:nvSpPr>
        <p:spPr>
          <a:xfrm>
            <a:off x="594360" y="4169664"/>
            <a:ext cx="5367528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0392" y="442569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553712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35608" y="4425696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el tiempo de respuesta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50392" y="499262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tardamos en contestar y en resolver, por área y por tipo de queja.</a:t>
            </a:r>
            <a:endParaRPr lang="en-US" sz="1220" dirty="0"/>
          </a:p>
        </p:txBody>
      </p:sp>
      <p:sp>
        <p:nvSpPr>
          <p:cNvPr id="20" name="Shape 15"/>
          <p:cNvSpPr/>
          <p:nvPr/>
        </p:nvSpPr>
        <p:spPr>
          <a:xfrm>
            <a:off x="6181344" y="4169664"/>
            <a:ext cx="5367528" cy="1591056"/>
          </a:xfrm>
          <a:prstGeom prst="roundRect">
            <a:avLst>
              <a:gd name="adj" fmla="val 5747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425696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553712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22592" y="4425696"/>
            <a:ext cx="4270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 el patrón, no sólo el caso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437376" y="499262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tres pacientes se quejan de lo mismo, deja de ser anécdota y se vuelve un dato.</a:t>
            </a:r>
            <a:endParaRPr lang="en-US" sz="1220" dirty="0"/>
          </a:p>
        </p:txBody>
      </p:sp>
      <p:sp>
        <p:nvSpPr>
          <p:cNvPr id="25" name="Text 19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4864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RECORRIDO COMPLETO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10029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día en Haltus Hope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94360" y="1591056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2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paciente, de la puerta a la póliza contable. Nadie captura la misma información dos veces.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94360" y="2212848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2104" y="2450592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0361" y="2588849"/>
            <a:ext cx="217261" cy="21726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679192" y="24323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32104" y="307238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2104" y="338328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abre su expediente o se recupera el que ya tenía.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268980" y="3035808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65576" y="2212848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703320" y="2450592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1577" y="2588849"/>
            <a:ext cx="217261" cy="21726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50408" y="24323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703320" y="307238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agenda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703320" y="338328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Quirófano y equipo reservados, sin empalmes.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140196" y="3035808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336792" y="2212848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74536" y="2450592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793" y="2588849"/>
            <a:ext cx="217261" cy="217261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421624" y="24323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6574536" y="307238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atiende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6574536" y="338328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Notas, diagnóstico y signos, capturados a pie de cama.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9011412" y="3035808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208008" y="2212848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445752" y="2450592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4009" y="2588849"/>
            <a:ext cx="217261" cy="217261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1292840" y="243230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5"/>
          <p:cNvSpPr/>
          <p:nvPr/>
        </p:nvSpPr>
        <p:spPr>
          <a:xfrm>
            <a:off x="9445752" y="307238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consume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9445752" y="338328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material salen de farmacia con su lote.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94360" y="4297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832104" y="4535424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361" y="4673681"/>
            <a:ext cx="217261" cy="217261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2679192" y="451713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0"/>
          <p:cNvSpPr/>
          <p:nvPr/>
        </p:nvSpPr>
        <p:spPr>
          <a:xfrm>
            <a:off x="832104" y="515721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arma la cuenta</a:t>
            </a:r>
            <a:endParaRPr lang="en-US" sz="1500" dirty="0"/>
          </a:p>
        </p:txBody>
      </p:sp>
      <p:sp>
        <p:nvSpPr>
          <p:cNvPr id="38" name="Text 31"/>
          <p:cNvSpPr/>
          <p:nvPr/>
        </p:nvSpPr>
        <p:spPr>
          <a:xfrm>
            <a:off x="832104" y="5468112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expediente ya está cargado, con su tarifa.</a:t>
            </a:r>
            <a:endParaRPr lang="en-US" sz="1150" dirty="0"/>
          </a:p>
        </p:txBody>
      </p:sp>
      <p:sp>
        <p:nvSpPr>
          <p:cNvPr id="39" name="Shape 32"/>
          <p:cNvSpPr/>
          <p:nvPr/>
        </p:nvSpPr>
        <p:spPr>
          <a:xfrm>
            <a:off x="3268980" y="512064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3465576" y="4297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3703320" y="4535424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1577" y="4673681"/>
            <a:ext cx="217261" cy="217261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5550408" y="451713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44" name="Text 36"/>
          <p:cNvSpPr/>
          <p:nvPr/>
        </p:nvSpPr>
        <p:spPr>
          <a:xfrm>
            <a:off x="3703320" y="515721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cobra</a:t>
            </a:r>
            <a:endParaRPr lang="en-US" sz="1500" dirty="0"/>
          </a:p>
        </p:txBody>
      </p:sp>
      <p:sp>
        <p:nvSpPr>
          <p:cNvPr id="45" name="Text 37"/>
          <p:cNvSpPr/>
          <p:nvPr/>
        </p:nvSpPr>
        <p:spPr>
          <a:xfrm>
            <a:off x="3703320" y="5468112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Partido entre aseguradora y paciente.</a:t>
            </a:r>
            <a:endParaRPr lang="en-US" sz="1150" dirty="0"/>
          </a:p>
        </p:txBody>
      </p:sp>
      <p:sp>
        <p:nvSpPr>
          <p:cNvPr id="46" name="Shape 38"/>
          <p:cNvSpPr/>
          <p:nvPr/>
        </p:nvSpPr>
        <p:spPr>
          <a:xfrm>
            <a:off x="6140196" y="512064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6336792" y="4297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6574536" y="4535424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12793" y="4673681"/>
            <a:ext cx="217261" cy="217261"/>
          </a:xfrm>
          <a:prstGeom prst="rect">
            <a:avLst/>
          </a:prstGeom>
        </p:spPr>
      </p:pic>
      <p:sp>
        <p:nvSpPr>
          <p:cNvPr id="50" name="Text 41"/>
          <p:cNvSpPr/>
          <p:nvPr/>
        </p:nvSpPr>
        <p:spPr>
          <a:xfrm>
            <a:off x="8421624" y="451713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800" dirty="0"/>
          </a:p>
        </p:txBody>
      </p:sp>
      <p:sp>
        <p:nvSpPr>
          <p:cNvPr id="51" name="Text 42"/>
          <p:cNvSpPr/>
          <p:nvPr/>
        </p:nvSpPr>
        <p:spPr>
          <a:xfrm>
            <a:off x="6574536" y="515721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factura</a:t>
            </a:r>
            <a:endParaRPr lang="en-US" sz="1500" dirty="0"/>
          </a:p>
        </p:txBody>
      </p:sp>
      <p:sp>
        <p:nvSpPr>
          <p:cNvPr id="52" name="Text 43"/>
          <p:cNvSpPr/>
          <p:nvPr/>
        </p:nvSpPr>
        <p:spPr>
          <a:xfrm>
            <a:off x="6574536" y="5468112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Timbrada, con los tres tratamientos de IVA correctos.</a:t>
            </a:r>
            <a:endParaRPr lang="en-US" sz="1150" dirty="0"/>
          </a:p>
        </p:txBody>
      </p:sp>
      <p:sp>
        <p:nvSpPr>
          <p:cNvPr id="53" name="Shape 44"/>
          <p:cNvSpPr/>
          <p:nvPr/>
        </p:nvSpPr>
        <p:spPr>
          <a:xfrm>
            <a:off x="9011412" y="5120640"/>
            <a:ext cx="173736" cy="182880"/>
          </a:xfrm>
          <a:prstGeom prst="rightArrow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4" name="Shape 45"/>
          <p:cNvSpPr/>
          <p:nvPr/>
        </p:nvSpPr>
        <p:spPr>
          <a:xfrm>
            <a:off x="9208008" y="429768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9445752" y="4535424"/>
            <a:ext cx="493776" cy="4937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4009" y="4673681"/>
            <a:ext cx="217261" cy="217261"/>
          </a:xfrm>
          <a:prstGeom prst="rect">
            <a:avLst/>
          </a:prstGeom>
        </p:spPr>
      </p:pic>
      <p:sp>
        <p:nvSpPr>
          <p:cNvPr id="57" name="Text 47"/>
          <p:cNvSpPr/>
          <p:nvPr/>
        </p:nvSpPr>
        <p:spPr>
          <a:xfrm>
            <a:off x="11292840" y="451713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6F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800" dirty="0"/>
          </a:p>
        </p:txBody>
      </p:sp>
      <p:sp>
        <p:nvSpPr>
          <p:cNvPr id="58" name="Text 48"/>
          <p:cNvSpPr/>
          <p:nvPr/>
        </p:nvSpPr>
        <p:spPr>
          <a:xfrm>
            <a:off x="9445752" y="5157216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contabiliza</a:t>
            </a:r>
            <a:endParaRPr lang="en-US" sz="1500" dirty="0"/>
          </a:p>
        </p:txBody>
      </p:sp>
      <p:sp>
        <p:nvSpPr>
          <p:cNvPr id="59" name="Text 49"/>
          <p:cNvSpPr/>
          <p:nvPr/>
        </p:nvSpPr>
        <p:spPr>
          <a:xfrm>
            <a:off x="9445752" y="5468112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al banco, se concilia y llega al libro, solo.</a:t>
            </a:r>
            <a:endParaRPr lang="en-US" sz="1150" dirty="0"/>
          </a:p>
        </p:txBody>
      </p:sp>
      <p:sp>
        <p:nvSpPr>
          <p:cNvPr id="60" name="Text 50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61" name="Text 51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meses, de la firma al arranque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67528" cy="3602736"/>
          </a:xfrm>
          <a:prstGeom prst="roundRect">
            <a:avLst>
              <a:gd name="adj" fmla="val 3046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05256" y="1975104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1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05256" y="2286000"/>
            <a:ext cx="4745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05256" y="2889504"/>
            <a:ext cx="474573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 — Configuración del hospital y carga de su información fiscal histórica</a:t>
            </a:r>
            <a:endParaRPr lang="en-US" sz="1280" dirty="0"/>
          </a:p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2 — Catálogo de servicios, tarifarios por grupo y catálogo de insumos</a:t>
            </a:r>
            <a:endParaRPr lang="en-US" sz="1280" dirty="0"/>
          </a:p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3 — Cuenta del paciente, facturación, inventario con lotes y caducidades</a:t>
            </a:r>
            <a:endParaRPr lang="en-US" sz="1280" dirty="0"/>
          </a:p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4 — Expediente clínico, agenda de quirófanos, compras y mantenimiento</a:t>
            </a:r>
            <a:endParaRPr lang="en-US" sz="1280" dirty="0"/>
          </a:p>
        </p:txBody>
      </p:sp>
      <p:sp>
        <p:nvSpPr>
          <p:cNvPr id="8" name="Shape 6"/>
          <p:cNvSpPr/>
          <p:nvPr/>
        </p:nvSpPr>
        <p:spPr>
          <a:xfrm>
            <a:off x="6181344" y="1737360"/>
            <a:ext cx="5367528" cy="3602736"/>
          </a:xfrm>
          <a:prstGeom prst="roundRect">
            <a:avLst>
              <a:gd name="adj" fmla="val 3046"/>
            </a:avLst>
          </a:prstGeom>
          <a:solidFill>
            <a:srgbClr val="04353F"/>
          </a:solidFill>
          <a:ln w="9525">
            <a:solidFill>
              <a:srgbClr val="04353F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75104"/>
            <a:ext cx="4745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92240" y="2286000"/>
            <a:ext cx="4745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Implementación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92240" y="2889504"/>
            <a:ext cx="474573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5 — Migración de pacientes, proveedores e inventario de los sistemas actuales</a:t>
            </a:r>
            <a:endParaRPr lang="en-US" sz="1280" dirty="0"/>
          </a:p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6 — Carga de inventario físico inicial y validación de tarifarios con caja</a:t>
            </a:r>
            <a:endParaRPr lang="en-US" sz="1280" dirty="0"/>
          </a:p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7 — Capacitación por área: enfermería, farmacia, caja, compras y dirección</a:t>
            </a:r>
            <a:endParaRPr lang="en-US" sz="1280" dirty="0"/>
          </a:p>
          <a:p>
            <a:pPr marL="342900" indent="-342900">
              <a:lnSpc>
                <a:spcPct val="114000"/>
              </a:lnSpc>
              <a:spcAft>
                <a:spcPts val="1200"/>
              </a:spcAft>
              <a:buSzPct val="100000"/>
              <a:buChar char="•"/>
            </a:pPr>
            <a:r>
              <a:rPr lang="en-US" sz="128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8 — Operación en paralelo, cuadre contra los sistemas viejos y corte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594360" y="550468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 final de la semana 8 el hospital opera completo en el sistema nuevo y los anteriores se apagan.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ya existe y qué se construye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mano en el corazón: esto es lo que hace que dos meses sea un plazo real y no una promesa.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22576"/>
            <a:ext cx="5367528" cy="3474720"/>
          </a:xfrm>
          <a:prstGeom prst="roundRect">
            <a:avLst>
              <a:gd name="adj" fmla="val 3158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5256" y="2542032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393" y="2675169"/>
            <a:ext cx="209215" cy="2092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27048" y="2596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existe y está probado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905256" y="3182112"/>
            <a:ext cx="47457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Contabilidad, cierre mensual y estados financieros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timbrada y complementos de pago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Conciliación bancaria automática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con autorizaciones y pagos a proveedores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con kardex y costo promedio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recursos por franja horaria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servicios con precios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para clientes y nómina completa</a:t>
            </a:r>
            <a:endParaRPr lang="en-US" sz="1260" dirty="0"/>
          </a:p>
        </p:txBody>
      </p:sp>
      <p:sp>
        <p:nvSpPr>
          <p:cNvPr id="10" name="Shape 7"/>
          <p:cNvSpPr/>
          <p:nvPr/>
        </p:nvSpPr>
        <p:spPr>
          <a:xfrm>
            <a:off x="6181344" y="2322576"/>
            <a:ext cx="5367528" cy="3474720"/>
          </a:xfrm>
          <a:prstGeom prst="roundRect">
            <a:avLst>
              <a:gd name="adj" fmla="val 3158"/>
            </a:avLst>
          </a:prstGeom>
          <a:solidFill>
            <a:srgbClr val="04353F"/>
          </a:solidFill>
          <a:ln w="9525">
            <a:solidFill>
              <a:srgbClr val="04353F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2240" y="2542032"/>
            <a:ext cx="475488" cy="47548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377" y="2675169"/>
            <a:ext cx="209215" cy="20921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14032" y="2596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construye para Haltus Hope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492240" y="3182112"/>
            <a:ext cx="47457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clínico completo (el bloque mayor)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Lotes y caducidades en farmacia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Tarifarios por grupo de pagador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como entidad distinta de quien paga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del paciente conciliada con su expediente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flujo de efectivo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del inmueble</a:t>
            </a:r>
            <a:endParaRPr lang="en-US" sz="1260" dirty="0"/>
          </a:p>
          <a:p>
            <a:pPr marL="342900" indent="-342900">
              <a:lnSpc>
                <a:spcPct val="114000"/>
              </a:lnSpc>
              <a:spcAft>
                <a:spcPts val="900"/>
              </a:spcAft>
              <a:buSzPct val="100000"/>
              <a:buChar char="•"/>
            </a:pPr>
            <a:r>
              <a:rPr lang="en-US" sz="1260" dirty="0">
                <a:solidFill>
                  <a:srgbClr val="BDD9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Quejas y reclamos de pacientes</a:t>
            </a:r>
            <a:endParaRPr lang="en-US" sz="1260" dirty="0"/>
          </a:p>
        </p:txBody>
      </p:sp>
      <p:sp>
        <p:nvSpPr>
          <p:cNvPr id="15" name="Text 11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75488"/>
            <a:ext cx="110029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86384"/>
            <a:ext cx="11002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Inversión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94360" y="14447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comparación honesta no es contra cero: es contra lo que hoy ya se paga por tener el trabajo partido en cinco herramientas.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322576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F1F7F8"/>
          </a:solidFill>
          <a:ln w="9525">
            <a:solidFill>
              <a:srgbClr val="D3E3E6"/>
            </a:solidFill>
            <a:prstDash val="solid"/>
          </a:ln>
          <a:effectLst>
            <a:outerShdw sx="100000" sy="100000" kx="0" ky="0" algn="bl" rotWithShape="0" blurRad="127000" dist="25400" dir="5400000">
              <a:srgbClr val="0A3038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05256" y="254203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hoy cuesta la operación actual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05256" y="3017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Licencias administrativas y contables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60520" y="3017520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$3,500 – $8,000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05256" y="3584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hospitalario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60520" y="3584448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$5,000 – $15,000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5256" y="41513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conciliando entre sistemas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60520" y="4151376"/>
            <a:ext cx="16093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$15,000 – $35,000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56" y="4736592"/>
            <a:ext cx="4864608" cy="0"/>
          </a:xfrm>
          <a:prstGeom prst="line">
            <a:avLst/>
          </a:prstGeom>
          <a:noFill/>
          <a:ln w="12700">
            <a:solidFill>
              <a:srgbClr val="D3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4864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al mes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20440" y="4864608"/>
            <a:ext cx="2249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A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$23,500 – $58,000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720840" y="2322576"/>
            <a:ext cx="4876495" cy="3291840"/>
          </a:xfrm>
          <a:prstGeom prst="roundRect">
            <a:avLst>
              <a:gd name="adj" fmla="val 3333"/>
            </a:avLst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77800" dist="25400" dir="5400000">
              <a:srgbClr val="0A303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86600" y="2542032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086600" y="2871216"/>
            <a:ext cx="41449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$30,000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7086600" y="3675888"/>
            <a:ext cx="4144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al mes  ·  un solo sistema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86600" y="4151376"/>
            <a:ext cx="41449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incluida — sin inversión inicial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ilimitados, escritorio y móvil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módulos, sin cobro por separado</a:t>
            </a:r>
            <a:endParaRPr lang="en-US" sz="1300" dirty="0"/>
          </a:p>
          <a:p>
            <a:pPr marL="342900" indent="-342900">
              <a:lnSpc>
                <a:spcPct val="114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a 24 meses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5779008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desembolso inicial y por debajo de lo que hoy se paga por tener el trabajo dividido.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94360" y="6291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682935" y="62910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7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435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206240" cy="420624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566928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Y CUMPLIMIENTO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93268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de salud, tratada como 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94360" y="1883664"/>
            <a:ext cx="2578608" cy="1700784"/>
          </a:xfrm>
          <a:prstGeom prst="roundRect">
            <a:avLst>
              <a:gd name="adj" fmla="val 5376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2104" y="2121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9424"/>
            <a:ext cx="201168" cy="201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32104" y="2688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por rol y por área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2104" y="29809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quien ve sólo lo que su trabajo requiere.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92424" y="1883664"/>
            <a:ext cx="2578608" cy="1700784"/>
          </a:xfrm>
          <a:prstGeom prst="roundRect">
            <a:avLst>
              <a:gd name="adj" fmla="val 5376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30168" y="2121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184" y="2249424"/>
            <a:ext cx="201168" cy="20116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30168" y="2688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cifradas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630168" y="29809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llaves fiscales del hospital nunca se guardan en claro.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90488" y="1883664"/>
            <a:ext cx="2578608" cy="1700784"/>
          </a:xfrm>
          <a:prstGeom prst="roundRect">
            <a:avLst>
              <a:gd name="adj" fmla="val 5376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28232" y="2121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248" y="224942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428232" y="2688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de auditoría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28232" y="29809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hizo qué y cuándo, sin posibilidad de borrarlo.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8988552" y="1883664"/>
            <a:ext cx="2578608" cy="1700784"/>
          </a:xfrm>
          <a:prstGeom prst="roundRect">
            <a:avLst>
              <a:gd name="adj" fmla="val 5376"/>
            </a:avLst>
          </a:prstGeom>
          <a:solidFill>
            <a:srgbClr val="0A4A56"/>
          </a:solidFill>
          <a:ln w="12700">
            <a:solidFill>
              <a:srgbClr val="16606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26296" y="2121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4312" y="2249424"/>
            <a:ext cx="201168" cy="20116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26296" y="2688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Resguardo del expediente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9226296" y="298094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Conservación conforme a la normativa aplicable.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94360" y="3950208"/>
            <a:ext cx="11002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Siguientes pasos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594360" y="44988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594360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1161288" y="45171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la operación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1161288" y="482803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jornada con caja, farmacia, compras y enfermería para afinar el detalle.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4370832" y="44988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4370832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4937760" y="45171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fecha de arranque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937760" y="482803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confirma el alcance del mes 1 y se fija la fecha de corte.</a:t>
            </a:r>
            <a:endParaRPr lang="en-US" sz="1150" dirty="0"/>
          </a:p>
        </p:txBody>
      </p:sp>
      <p:sp>
        <p:nvSpPr>
          <p:cNvPr id="35" name="Shape 29"/>
          <p:cNvSpPr/>
          <p:nvPr/>
        </p:nvSpPr>
        <p:spPr>
          <a:xfrm>
            <a:off x="8147304" y="4498848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147304" y="44988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435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7" name="Text 31"/>
          <p:cNvSpPr/>
          <p:nvPr/>
        </p:nvSpPr>
        <p:spPr>
          <a:xfrm>
            <a:off x="8714232" y="451713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y arranque</a:t>
            </a:r>
            <a:endParaRPr lang="en-US" sz="1400" dirty="0"/>
          </a:p>
        </p:txBody>
      </p:sp>
      <p:sp>
        <p:nvSpPr>
          <p:cNvPr id="38" name="Text 32"/>
          <p:cNvSpPr/>
          <p:nvPr/>
        </p:nvSpPr>
        <p:spPr>
          <a:xfrm>
            <a:off x="8714232" y="4828032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9C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desarrollo empieza la semana siguiente a la firma.</a:t>
            </a:r>
            <a:endParaRPr lang="en-US" sz="1150" dirty="0"/>
          </a:p>
        </p:txBody>
      </p:sp>
      <p:sp>
        <p:nvSpPr>
          <p:cNvPr id="39" name="Text 33"/>
          <p:cNvSpPr/>
          <p:nvPr/>
        </p:nvSpPr>
        <p:spPr>
          <a:xfrm>
            <a:off x="594360" y="6053328"/>
            <a:ext cx="110029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F96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Haltus Hope  ·  Propuesta de sistema integral  ·  Agosto 2026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Haltus Hope — Propuesta de sistema integral</dc:title>
  <dc:subject>PptxGenJS Presentation</dc:subject>
  <dc:creator>Contabilidad OS</dc:creator>
  <cp:lastModifiedBy>Contabilidad OS</cp:lastModifiedBy>
  <cp:revision>1</cp:revision>
  <dcterms:created xsi:type="dcterms:W3CDTF">2026-08-18T00:59:32Z</dcterms:created>
  <dcterms:modified xsi:type="dcterms:W3CDTF">2026-08-18T00:59:32Z</dcterms:modified>
</cp:coreProperties>
</file>