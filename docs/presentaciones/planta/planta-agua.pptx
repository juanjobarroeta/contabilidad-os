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El nombre de la planta del cliente sustituye la línea genérica cuando lo tengamos — es una constante del generador.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preguntas sin respuesta hoy. Cada pantalla del deck contesta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lámina que define el producto. El hospital tenía una cadena; la planta tiene dos ciclos que cierran.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Producción del día, garrafones fuera, cartera de gobierno y las alertas que requieren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pantalla espeja el diagrama de la PORTAQUA. El contador del turno se captura al cierre y el sistema cuadra litros comprados contra embotellados.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Salieron menos regresaron, remisión por remisión. Dos dependencias con saldo creciendo aparecen en amber antes de que sea dinero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 pactado, vigencia y consumo contra tope. El contrato del HGZ llega al tope en 9 semanas — tiempo de gestionar la ampliación.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Remitido, facturado y cobrado por dependencia. La factura vencida del HGZ aparece en rojo con sus días encima del plazo.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consumo mensual por punto de entrega, cuadrado con remisiones selladas, y el CFDI PPD con IVA 0% en 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Cloro por turno, lavados, mantenimiento de filtros y análisis con vigencias. Lo que está por vencer avisa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remisión móvil: entrega llenos, recoge vacíos, captura quién recibió. Funciona sin señal.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 dentro del rango acordado ($12–15k). Es una constante del generador — se ajusta antes de la junta si hace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pidiendo la visita de media jornada — compromiso chico que destraba 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2560" y="-1645920"/>
            <a:ext cx="5669280" cy="5669280"/>
          </a:xfrm>
          <a:prstGeom prst="ellipse">
            <a:avLst/>
          </a:prstGeom>
          <a:solidFill>
            <a:srgbClr val="2E6E8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24160" y="3566160"/>
            <a:ext cx="3291840" cy="3291840"/>
          </a:xfrm>
          <a:prstGeom prst="ellipse">
            <a:avLst/>
          </a:prstGeom>
          <a:solidFill>
            <a:srgbClr val="0E93B8">
              <a:alpha val="2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 · PROPUESTA DE SISTEMA INTEGRAL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12848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litro y cada garrafón, contados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 ·  Envases  ·  Remisiones  ·  Gobierno  ·  Normatividad  ·  Contabilidad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5943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hoy nadie puede contestar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3628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 descuido: porque la operación vive en talones, cuadernos y memoria.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591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¿Cuánta agua compraste y cuánta vendiste?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999232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pipas entran, los garrafones salen — y la diferencia no la mide nadie.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3591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¿Cuántos garrafones tuyos tiene cada dependencia?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7720" y="2999232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envase es el activo del negocio y circula sin saldo por cliente.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8046720" y="2103120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3591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remisiones ya se pueden facturar?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99232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talón sellado vive en una carpeta en el camión.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4074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te debe gobierno y desde cuándo?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047488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a 30–45 días, sin semáforo de vencimiento.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4343400" y="4151376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4074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bitácora aguanta una visita de COFEPRIS?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7720" y="5047488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Cloro, lavados y análisis en cuadernos que hay que buscar.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8046720" y="4151376"/>
            <a:ext cx="3474720" cy="1847088"/>
          </a:xfrm>
          <a:prstGeom prst="roundRect">
            <a:avLst>
              <a:gd name="adj" fmla="val 4950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0" y="44074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negocio gana lo que crees?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5047488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por litro ni merma, la utilidad es una corazonada.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63721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035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69264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ciclos cerrados, ambos contados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764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DEL AGUA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3134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624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que entran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19756" y="2596896"/>
            <a:ext cx="164592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25496" y="21488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3512" y="23134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53512" y="2624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máquina llena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5172" y="2596896"/>
            <a:ext cx="164592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10912" y="21488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38928" y="23134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Remisión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138928" y="2624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llenos que salen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90588" y="2596896"/>
            <a:ext cx="164592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96328" y="21488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24344" y="23134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24344" y="2624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CFDI · IVA 0%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76004" y="2596896"/>
            <a:ext cx="164592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81744" y="21488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0" y="23134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509760" y="26243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y REP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3593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DEL ENVASE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41422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lleno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68096" y="4453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remisión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619756" y="4425696"/>
            <a:ext cx="164592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25496" y="39776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53512" y="41422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Regresa vacío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2953512" y="4453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viaje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05172" y="4425696"/>
            <a:ext cx="164592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10912" y="39776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38928" y="41422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lava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138928" y="4453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990588" y="4425696"/>
            <a:ext cx="164592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96328" y="39776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24344" y="41422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llena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7324344" y="4453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salir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76004" y="4425696"/>
            <a:ext cx="164592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81744" y="3977640"/>
            <a:ext cx="1938528" cy="1078992"/>
          </a:xfrm>
          <a:prstGeom prst="roundRect">
            <a:avLst>
              <a:gd name="adj" fmla="val 8475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09760" y="41422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509760" y="445312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cliente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0080" y="54406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7FD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Litros comprados vs. litros embotellados = rendimiento. Salieron − regresaron = saldo de envases. Si un número no cuadra, el sistema lo dice.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63721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DEL DUEÑO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planta en una pantalla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Enterarse de lo que pasa sin estar en la planta.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misma máquina, ahora con memoria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cuánta agua entró, cuánta salió y dónde quedó la diferencia.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produc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ENVASES EN COMODATO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garrafones que no regresan, con nombre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activo del negocio circulando sin saldo por cliente.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env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CON GOBIERNO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contrato, no la corazonada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contra un tope que nadie está midiendo.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gobier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DE GOBIERNO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Cuánto te deben y desde cuándo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Cobranza a 30–45 días administrada de memoria.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cart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CUENTA Y CFDI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soporte que gobierno pide, listo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la factura del mes buscando talones.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estadocue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COFEPRIS se contesta imprimiendo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253935" y="457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  </a:t>
            </a:r>
            <a:pPr algn="r" indent="0" marL="0">
              <a:buNone/>
            </a:pPr>
            <a:r>
              <a:rPr lang="en-US" sz="125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Bitácoras en cuadernos y análisis vencidos sin aviso.</a:t>
            </a:r>
            <a:endParaRPr lang="en-US" sz="950" dirty="0"/>
          </a:p>
        </p:txBody>
      </p:sp>
      <p:pic>
        <p:nvPicPr>
          <p:cNvPr id="5" name="Image 0" descr="/home/user/contabilidad-os/docs/presentaciones/planta/generador/planta/png/normativ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1152144"/>
            <a:ext cx="9923228" cy="57058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/home/user/contabilidad-os/docs/presentaciones/planta/generador/planta/png/remi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76112"/>
            <a:ext cx="12191695" cy="70102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669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COMPLETO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932688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lunes en la planta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59105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pipa recorre el sistema completo. Nadie captura la misma información dos veces.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414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07:40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la pipa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77824" y="303580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L de Pipas del Valle — queda como compra con su CFDI.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2999232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8728" y="2194560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2414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76472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la máquina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76472" y="303580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 garrafones (910×20L, 70×19L). Contador de la HMI al cierre.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6208" y="2999232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194560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14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11:20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la remisión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675120" y="303580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R-1042: 400 llenos a la Secretaría; 380 vacíos de regreso.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34856" y="2999232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36024" y="2194560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3768" y="2414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11:21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573768" y="2706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saldo se mueve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573768" y="303580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dependencia queda en +340 garrafones — alerta amber.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242816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4462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se llena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08406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Cloro 1.1 ppm, dentro de norma. Con hora y responsable.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37560" y="5047488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38728" y="4242816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76472" y="4462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mes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76472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cuenta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776472" y="508406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8,400 garrafones · $121,800 · cuadrado con 23 remisiones.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36208" y="5047488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37376" y="4242816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4462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 sep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75120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factura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675120" y="508406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CFDI PPD consolidado, IVA 0%, con remisiones anexas.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134856" y="5047488"/>
            <a:ext cx="173736" cy="182880"/>
          </a:xfrm>
          <a:prstGeom prst="rightArrow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36024" y="4242816"/>
            <a:ext cx="2670048" cy="1792224"/>
          </a:xfrm>
          <a:prstGeom prst="roundRect">
            <a:avLst>
              <a:gd name="adj" fmla="val 5102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73768" y="4462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45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573768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cobra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9573768" y="508406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al banco, se concilia, el REP sale antes del día 5.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63721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ya existe y qué se construye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3628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ya opera negocios de agua purificada. Lo nuevo es la capa de planta y gobierno.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5385816" cy="3456432"/>
          </a:xfrm>
          <a:prstGeom prst="roundRect">
            <a:avLst>
              <a:gd name="adj" fmla="val 3175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395728"/>
            <a:ext cx="402336" cy="402336"/>
          </a:xfrm>
          <a:prstGeom prst="ellipse">
            <a:avLst/>
          </a:prstGeom>
          <a:solidFill>
            <a:srgbClr val="199D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9616" y="24140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existe y está probado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50976" y="2999232"/>
            <a:ext cx="47640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Ventas, reparto y corte del día del chofer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a proveedores e insumos de planta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pactado por cliente y sucursales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cuenta mensual y facturación CFDI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del cliente con sus facturas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Bancos, conciliación y complementos de pago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completa y estados financieros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con IMSS, Infonavit y Fonacot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45352" y="2139696"/>
            <a:ext cx="5385816" cy="3456432"/>
          </a:xfrm>
          <a:prstGeom prst="roundRect">
            <a:avLst>
              <a:gd name="adj" fmla="val 3175"/>
            </a:avLst>
          </a:prstGeom>
          <a:solidFill>
            <a:srgbClr val="0C3D55"/>
          </a:solidFill>
          <a:ln w="9525">
            <a:solidFill>
              <a:srgbClr val="0C3D55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395728"/>
            <a:ext cx="402336" cy="402336"/>
          </a:xfrm>
          <a:prstGeom prst="ellipse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04888" y="24140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construye para esta planta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56248" y="2999232"/>
            <a:ext cx="476402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Producción: pipas, lotes y rendimiento por turno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Contadores de la máquina capturados al cierre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Envases en comodato: saldo por cliente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Remisiones con vacíos y evidencia de recibido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de gobierno: tope, vigencia, días de pago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por dependencia con semáforo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Bitácoras sanitarias y análisis con vigencias</a:t>
            </a:r>
            <a:endParaRPr lang="en-US" sz="122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20" dirty="0">
                <a:solidFill>
                  <a:srgbClr val="C6D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 chofer (funciona sin señal)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63721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3628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sistema para la planta: operación, facturación, cobranza a gobierno, normatividad y contabilidad.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21408"/>
            <a:ext cx="5486400" cy="3255264"/>
          </a:xfrm>
          <a:prstGeom prst="roundRect">
            <a:avLst>
              <a:gd name="adj" fmla="val 2809"/>
            </a:avLst>
          </a:prstGeom>
          <a:solidFill>
            <a:srgbClr val="F5F9FB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5202E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34086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sustituye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50976" y="2761488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talonario de remisiones y la carpeta del camión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cuadernos de bitácora y el archivo de análisis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Excel de cortes, saldos y facturación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contabilidad armada a mano cada mes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159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como sistema de cobranza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2121408"/>
            <a:ext cx="4785055" cy="3255264"/>
          </a:xfrm>
          <a:prstGeom prst="roundRect">
            <a:avLst>
              <a:gd name="adj" fmla="val 3371"/>
            </a:avLst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38100" dir="5400000">
              <a:srgbClr val="05202E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0" y="2340864"/>
            <a:ext cx="4053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0" y="2651760"/>
            <a:ext cx="40535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$12,000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7132320" y="3456432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al mes  ·  un solo sistema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0" y="3931920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incluida — sin inversión inicial</a:t>
            </a:r>
            <a:endParaRPr lang="en-US" sz="128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ilimitados: planta, oficina y choferes</a:t>
            </a:r>
            <a:endParaRPr lang="en-US" sz="128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módulos, sin cobro por separado</a:t>
            </a:r>
            <a:endParaRPr lang="en-US" sz="128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a 24 meses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640080" y="5541264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C3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Puesta en marcha en 4 a 6 semanas: catálogos, contratos, parque de envases y capacitación.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437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637215" y="64373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D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1371600"/>
            <a:ext cx="4572000" cy="4572000"/>
          </a:xfrm>
          <a:prstGeom prst="ellipse">
            <a:avLst/>
          </a:prstGeom>
          <a:solidFill>
            <a:srgbClr val="2E6E8E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035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7F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969264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 para arrancar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286000"/>
            <a:ext cx="457200" cy="457200"/>
          </a:xfrm>
          <a:prstGeom prst="ellipse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8895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a la planta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14400" y="32369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jornada: recorrido de producción, reparto y oficina para afinar catálogos y rutas.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25696" y="20116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0016" y="2286000"/>
            <a:ext cx="457200" cy="457200"/>
          </a:xfrm>
          <a:prstGeom prst="ellipse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00016" y="28895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arranque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00016" y="32369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vigentes, padrón de clientes, parque de garrafones y plantilla de personal.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1312" y="20116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082E41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85632" y="2286000"/>
            <a:ext cx="457200" cy="457200"/>
          </a:xfrm>
          <a:prstGeom prst="ellipse">
            <a:avLst/>
          </a:prstGeom>
          <a:solidFill>
            <a:srgbClr val="0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85632" y="28895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marcha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485632" y="323697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C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por puesto — chofer, producción, oficina — y arranque en paralelo.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846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7FD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misma plataforma que lleva la contabilidad, los bancos y la nómina — la planta se suma, no empieza de cero.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EHABSA  ·  Propuesta de sistema integral  ·  Agosto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EHABSA — Sistema integral</dc:title>
  <dc:subject>PptxGenJS Presentation</dc:subject>
  <dc:creator>Contabilidad OS</dc:creator>
  <cp:lastModifiedBy>Contabilidad OS</cp:lastModifiedBy>
  <cp:revision>1</cp:revision>
  <dcterms:created xsi:type="dcterms:W3CDTF">2026-08-27T06:12:17Z</dcterms:created>
  <dcterms:modified xsi:type="dcterms:W3CDTF">2026-08-27T06:12:17Z</dcterms:modified>
</cp:coreProperties>
</file>